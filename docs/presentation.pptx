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7"/>
  </p:notesMasterIdLst>
  <p:handoutMasterIdLst>
    <p:handoutMasterId r:id="rId12"/>
  </p:handoutMasterIdLst>
  <p:sldIdLst>
    <p:sldId id="256" r:id="rId4"/>
    <p:sldId id="258" r:id="rId5"/>
    <p:sldId id="265" r:id="rId6"/>
    <p:sldId id="268" r:id="rId8"/>
    <p:sldId id="269" r:id="rId9"/>
    <p:sldId id="271" r:id="rId10"/>
    <p:sldId id="273" r:id="rId11"/>
  </p:sldIdLst>
  <p:sldSz cx="12192000" cy="6858000"/>
  <p:notesSz cx="7103745" cy="10234295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ea904ba-071c-4c34-82d9-346f3af3f84f}">
          <p14:sldIdLst>
            <p14:sldId id="256"/>
            <p14:sldId id="258"/>
            <p14:sldId id="265"/>
            <p14:sldId id="268"/>
            <p14:sldId id="269"/>
            <p14:sldId id="271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38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90"/>
        <p:guide pos="380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122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2.pn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image" Target="../media/image3.png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image" Target="../media/image4.png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14923" y="1742132"/>
            <a:ext cx="10777077" cy="51158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94690" y="1306195"/>
            <a:ext cx="6951980" cy="244919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sym typeface="+mn-ea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694690" y="4182110"/>
            <a:ext cx="3918585" cy="50419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8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9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2551882"/>
            <a:ext cx="7341844" cy="430294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2114416" y="1303507"/>
            <a:ext cx="2880000" cy="2346658"/>
          </a:xfrm>
        </p:spPr>
        <p:txBody>
          <a:bodyPr anchor="ctr">
            <a:normAutofit/>
          </a:bodyPr>
          <a:lstStyle>
            <a:lvl1pPr>
              <a:defRPr sz="4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987730" y="1496287"/>
            <a:ext cx="9204270" cy="53584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322070" y="3168015"/>
            <a:ext cx="8319770" cy="2193925"/>
          </a:xfrm>
        </p:spPr>
        <p:txBody>
          <a:bodyPr anchor="t">
            <a:normAutofit/>
          </a:bodyPr>
          <a:lstStyle>
            <a:lvl1pPr algn="l">
              <a:defRPr sz="4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1322070" y="1767840"/>
            <a:ext cx="8319770" cy="1224280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8000" b="1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694799" y="1266825"/>
            <a:ext cx="5181600" cy="4910775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313200" y="1266825"/>
            <a:ext cx="5181600" cy="4910775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800" y="1277189"/>
            <a:ext cx="5157787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4800" y="1916723"/>
            <a:ext cx="5157787" cy="427294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311612" y="1277189"/>
            <a:ext cx="5183188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311612" y="1916723"/>
            <a:ext cx="5183188" cy="427294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85800" y="360000"/>
            <a:ext cx="10814050" cy="581760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799" y="1266825"/>
            <a:ext cx="10805051" cy="576000"/>
          </a:xfrm>
        </p:spPr>
        <p:txBody>
          <a:bodyPr anchor="t"/>
          <a:lstStyle>
            <a:lvl1pPr marL="0" indent="0">
              <a:buNone/>
              <a:defRPr sz="2400" b="0">
                <a:latin typeface="+mn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00300" y="1409248"/>
            <a:ext cx="9791699" cy="54487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94799" y="1954800"/>
            <a:ext cx="6094800" cy="1800000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694690" y="4182110"/>
            <a:ext cx="3918585" cy="504190"/>
          </a:xfrm>
        </p:spPr>
        <p:txBody>
          <a:bodyPr vert="horz" lIns="0" tIns="0" rIns="0" bIns="0" rtlCol="0" anchor="ctr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8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9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9" Type="http://schemas.openxmlformats.org/officeDocument/2006/relationships/theme" Target="../theme/theme2.xml"/><Relationship Id="rId18" Type="http://schemas.openxmlformats.org/officeDocument/2006/relationships/tags" Target="../tags/tag64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+mn-lt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4799" y="1266825"/>
            <a:ext cx="10799999" cy="49107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4799" y="6356350"/>
            <a:ext cx="2886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56350"/>
            <a:ext cx="2884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tags" Target="../tags/tag6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90.xml"/><Relationship Id="rId1" Type="http://schemas.openxmlformats.org/officeDocument/2006/relationships/tags" Target="../tags/tag8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tags" Target="../tags/tag9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7" Type="http://schemas.openxmlformats.org/officeDocument/2006/relationships/slideLayout" Target="../slideLayouts/slideLayout18.xml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tags" Target="../tags/tag10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596900" y="514350"/>
            <a:ext cx="6951980" cy="1596390"/>
          </a:xfrm>
        </p:spPr>
        <p:txBody>
          <a:bodyPr>
            <a:normAutofit/>
          </a:bodyPr>
          <a:lstStyle/>
          <a:p>
            <a:r>
              <a:rPr lang="en-US" altLang="en-US" sz="8000" dirty="0">
                <a:ea typeface="+mj-ea"/>
              </a:rPr>
              <a:t>AlgoIsCool</a:t>
            </a:r>
            <a:endParaRPr lang="en-US" altLang="en-US" sz="8000" dirty="0">
              <a:ea typeface="+mj-ea"/>
            </a:endParaRPr>
          </a:p>
        </p:txBody>
      </p:sp>
      <p:sp>
        <p:nvSpPr>
          <p:cNvPr id="13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694690" y="3963035"/>
            <a:ext cx="2566670" cy="638175"/>
          </a:xfrm>
        </p:spPr>
        <p:txBody>
          <a:bodyPr>
            <a:noAutofit/>
          </a:bodyPr>
          <a:lstStyle/>
          <a:p>
            <a:r>
              <a:rPr lang="ru-RU" altLang="en-US" sz="2400"/>
              <a:t>Павлов Даниил Александрович</a:t>
            </a:r>
            <a:endParaRPr lang="ru-RU" altLang="en-US" sz="2400"/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365125" y="2223770"/>
            <a:ext cx="6363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i="1"/>
              <a:t>Интерактивная платформа визуализации алгоритмов</a:t>
            </a:r>
            <a:endParaRPr lang="en-US" altLang="en-US" i="1"/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705485" y="5864225"/>
            <a:ext cx="1359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2026 май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68680" y="206375"/>
            <a:ext cx="5393055" cy="720090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en-US" dirty="0">
                <a:ea typeface="+mj-ea"/>
                <a:sym typeface="+mn-ea"/>
              </a:rPr>
              <a:t>Архитектура и стек</a:t>
            </a:r>
            <a:endParaRPr lang="en-US" altLang="en-US" dirty="0">
              <a:ea typeface="+mj-ea"/>
              <a:sym typeface="+mn-ea"/>
            </a:endParaRPr>
          </a:p>
        </p:txBody>
      </p:sp>
      <p:sp>
        <p:nvSpPr>
          <p:cNvPr id="4" name="Замещающее содержимое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8470" y="1136650"/>
            <a:ext cx="5392420" cy="3083560"/>
          </a:xfrm>
          <a:prstGeom prst="rect">
            <a:avLst/>
          </a:prstGeom>
        </p:spPr>
        <p:txBody>
          <a:bodyPr vert="horz" wrap="square" lIns="0" tIns="0" rIns="0" bIns="0" numCol="2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en-US" sz="2000" b="1">
                <a:solidFill>
                  <a:schemeClr val="tx1"/>
                </a:solidFill>
                <a:ea typeface="+mn-ea"/>
              </a:rPr>
              <a:t>Технологии</a:t>
            </a:r>
            <a:r>
              <a:rPr lang="en-US" altLang="en-US" sz="2000" b="1">
                <a:solidFill>
                  <a:schemeClr val="tx1"/>
                </a:solidFill>
                <a:ea typeface="+mn-ea"/>
              </a:rPr>
              <a:t>:</a:t>
            </a:r>
            <a:endParaRPr lang="en-US" altLang="en-US" sz="2000" b="1">
              <a:solidFill>
                <a:schemeClr val="tx1"/>
              </a:solidFill>
              <a:ea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ru-RU" sz="2000">
                <a:solidFill>
                  <a:schemeClr val="tx1"/>
                </a:solidFill>
                <a:ea typeface="+mn-ea"/>
              </a:rPr>
              <a:t>Flask</a:t>
            </a:r>
            <a:endParaRPr lang="en-US" altLang="ru-RU" sz="2000">
              <a:solidFill>
                <a:schemeClr val="tx1"/>
              </a:solidFill>
              <a:ea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ru-RU" sz="2000">
                <a:solidFill>
                  <a:schemeClr val="tx1"/>
                </a:solidFill>
                <a:ea typeface="+mn-ea"/>
              </a:rPr>
              <a:t>SQLite</a:t>
            </a:r>
            <a:endParaRPr lang="en-US" altLang="ru-RU" sz="2000">
              <a:solidFill>
                <a:schemeClr val="tx1"/>
              </a:solidFill>
              <a:ea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ru-RU" sz="2000">
                <a:solidFill>
                  <a:schemeClr val="tx1"/>
                </a:solidFill>
                <a:ea typeface="+mn-ea"/>
              </a:rPr>
              <a:t>Flask-SQLAlchemy</a:t>
            </a:r>
            <a:endParaRPr lang="en-US" altLang="ru-RU" sz="2000">
              <a:solidFill>
                <a:schemeClr val="tx1"/>
              </a:solidFill>
              <a:ea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ru-RU" sz="2000">
                <a:solidFill>
                  <a:schemeClr val="tx1"/>
                </a:solidFill>
                <a:ea typeface="+mn-ea"/>
              </a:rPr>
              <a:t>Flask-Security</a:t>
            </a:r>
            <a:endParaRPr lang="en-US" altLang="ru-RU" sz="2000">
              <a:solidFill>
                <a:schemeClr val="tx1"/>
              </a:solidFill>
              <a:ea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ru-RU" sz="2000">
                <a:solidFill>
                  <a:schemeClr val="tx1"/>
                </a:solidFill>
                <a:ea typeface="+mn-ea"/>
              </a:rPr>
              <a:t>python-igraph</a:t>
            </a:r>
            <a:endParaRPr lang="en-US" altLang="ru-RU" sz="2000">
              <a:solidFill>
                <a:schemeClr val="tx1"/>
              </a:solidFill>
              <a:ea typeface="+mn-ea"/>
            </a:endParaRPr>
          </a:p>
          <a:p>
            <a:pPr>
              <a:buFont typeface="Wingdings" panose="05000000000000000000" charset="0"/>
              <a:buChar char="Ø"/>
            </a:pPr>
            <a:endParaRPr lang="en-US" altLang="ru-RU" sz="2000">
              <a:solidFill>
                <a:schemeClr val="tx1"/>
              </a:solidFill>
              <a:ea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ru-RU" sz="2000">
                <a:solidFill>
                  <a:schemeClr val="tx1"/>
                </a:solidFill>
                <a:ea typeface="+mn-ea"/>
              </a:rPr>
              <a:t>WTForms</a:t>
            </a:r>
            <a:endParaRPr lang="en-US" altLang="ru-RU" sz="2000">
              <a:solidFill>
                <a:schemeClr val="tx1"/>
              </a:solidFill>
              <a:ea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ru-RU" sz="2000">
                <a:solidFill>
                  <a:schemeClr val="tx1"/>
                </a:solidFill>
                <a:ea typeface="+mn-ea"/>
              </a:rPr>
              <a:t>ES6</a:t>
            </a:r>
            <a:endParaRPr lang="en-US" altLang="ru-RU" sz="2000">
              <a:solidFill>
                <a:schemeClr val="tx1"/>
              </a:solidFill>
              <a:ea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ru-RU" sz="2000">
                <a:solidFill>
                  <a:schemeClr val="tx1"/>
                </a:solidFill>
                <a:ea typeface="+mn-ea"/>
              </a:rPr>
              <a:t>Canvas API</a:t>
            </a:r>
            <a:endParaRPr lang="en-US" altLang="ru-RU" sz="2000">
              <a:solidFill>
                <a:schemeClr val="tx1"/>
              </a:solidFill>
              <a:ea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ru-RU" sz="2000">
                <a:solidFill>
                  <a:schemeClr val="tx1"/>
                </a:solidFill>
                <a:ea typeface="+mn-ea"/>
              </a:rPr>
              <a:t>CSS Grid/Flex</a:t>
            </a:r>
            <a:endParaRPr lang="en-US" altLang="ru-RU" sz="2000">
              <a:solidFill>
                <a:schemeClr val="tx1"/>
              </a:solidFill>
              <a:ea typeface="+mn-ea"/>
            </a:endParaRPr>
          </a:p>
        </p:txBody>
      </p:sp>
      <p:sp>
        <p:nvSpPr>
          <p:cNvPr id="41" name="圆角矩形 9"/>
          <p:cNvSpPr/>
          <p:nvPr>
            <p:custDataLst>
              <p:tags r:id="rId3"/>
            </p:custDataLst>
          </p:nvPr>
        </p:nvSpPr>
        <p:spPr>
          <a:xfrm>
            <a:off x="5710238" y="1371114"/>
            <a:ext cx="6055044" cy="968782"/>
          </a:xfrm>
          <a:prstGeom prst="roundRect">
            <a:avLst>
              <a:gd name="adj" fmla="val 5000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72" name="圆角矩形 71"/>
          <p:cNvSpPr/>
          <p:nvPr>
            <p:custDataLst>
              <p:tags r:id="rId4"/>
            </p:custDataLst>
          </p:nvPr>
        </p:nvSpPr>
        <p:spPr>
          <a:xfrm flipH="1">
            <a:off x="5850610" y="1473281"/>
            <a:ext cx="2328155" cy="6838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ru-RU" altLang="en-US" sz="2000" b="1" dirty="0">
                <a:solidFill>
                  <a:schemeClr val="lt1"/>
                </a:solidFill>
                <a:latin typeface="+mj-lt"/>
                <a:sym typeface="+mn-ea"/>
              </a:rPr>
              <a:t>Клиент</a:t>
            </a:r>
            <a:endParaRPr lang="ru-RU" altLang="en-US" sz="2000" b="1" dirty="0">
              <a:solidFill>
                <a:schemeClr val="lt1"/>
              </a:solidFill>
              <a:latin typeface="+mj-lt"/>
              <a:sym typeface="+mn-ea"/>
            </a:endParaRPr>
          </a:p>
        </p:txBody>
      </p:sp>
      <p:sp>
        <p:nvSpPr>
          <p:cNvPr id="11" name="矩形 1"/>
          <p:cNvSpPr/>
          <p:nvPr>
            <p:custDataLst>
              <p:tags r:id="rId5"/>
            </p:custDataLst>
          </p:nvPr>
        </p:nvSpPr>
        <p:spPr>
          <a:xfrm>
            <a:off x="8384692" y="1656568"/>
            <a:ext cx="3207685" cy="49440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ru-RU" b="1" dirty="0">
                <a:solidFill>
                  <a:schemeClr val="lt1"/>
                </a:solidFill>
                <a:latin typeface="+mj-lt"/>
                <a:sym typeface="+mn-ea"/>
              </a:rPr>
              <a:t>JS </a:t>
            </a:r>
            <a:r>
              <a:rPr lang="en-US" altLang="en-US" b="1" dirty="0">
                <a:solidFill>
                  <a:schemeClr val="lt1"/>
                </a:solidFill>
                <a:latin typeface="+mj-lt"/>
                <a:sym typeface="+mn-ea"/>
              </a:rPr>
              <a:t>рендереры + плеер</a:t>
            </a:r>
            <a:endParaRPr lang="en-US" altLang="en-US" b="1" dirty="0">
              <a:solidFill>
                <a:schemeClr val="lt1"/>
              </a:solidFill>
              <a:latin typeface="+mj-lt"/>
              <a:sym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2" name="圆角矩形 9"/>
          <p:cNvSpPr/>
          <p:nvPr>
            <p:custDataLst>
              <p:tags r:id="rId6"/>
            </p:custDataLst>
          </p:nvPr>
        </p:nvSpPr>
        <p:spPr>
          <a:xfrm>
            <a:off x="5710238" y="2424164"/>
            <a:ext cx="6055200" cy="968244"/>
          </a:xfrm>
          <a:prstGeom prst="roundRect">
            <a:avLst>
              <a:gd name="adj" fmla="val 5000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endParaRPr lang="en-US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13" name="圆角矩形 6"/>
          <p:cNvSpPr/>
          <p:nvPr>
            <p:custDataLst>
              <p:tags r:id="rId7"/>
            </p:custDataLst>
          </p:nvPr>
        </p:nvSpPr>
        <p:spPr>
          <a:xfrm flipH="1">
            <a:off x="5850730" y="2526340"/>
            <a:ext cx="2328972" cy="6839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ru-RU" sz="1900" b="1" dirty="0">
                <a:solidFill>
                  <a:schemeClr val="bg1"/>
                </a:solidFill>
                <a:latin typeface="+mj-lt"/>
                <a:sym typeface="+mn-ea"/>
              </a:rPr>
              <a:t>Flask R</a:t>
            </a:r>
            <a:r>
              <a:rPr lang="en-US" altLang="en-US" sz="1900" b="1" dirty="0">
                <a:solidFill>
                  <a:schemeClr val="bg1"/>
                </a:solidFill>
                <a:latin typeface="+mj-lt"/>
                <a:sym typeface="+mn-ea"/>
              </a:rPr>
              <a:t>EST API</a:t>
            </a:r>
            <a:endParaRPr lang="en-US" altLang="en-US" sz="1900" b="1" dirty="0">
              <a:solidFill>
                <a:schemeClr val="bg1"/>
              </a:solidFill>
              <a:latin typeface="+mj-lt"/>
              <a:sym typeface="+mn-ea"/>
            </a:endParaRPr>
          </a:p>
        </p:txBody>
      </p:sp>
      <p:sp>
        <p:nvSpPr>
          <p:cNvPr id="14" name="矩形 2"/>
          <p:cNvSpPr/>
          <p:nvPr>
            <p:custDataLst>
              <p:tags r:id="rId8"/>
            </p:custDataLst>
          </p:nvPr>
        </p:nvSpPr>
        <p:spPr>
          <a:xfrm>
            <a:off x="8363619" y="2450347"/>
            <a:ext cx="3224927" cy="8198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Интерпретаторы команд (</a:t>
            </a:r>
            <a:r>
              <a:rPr lang="en-US" altLang="ru-RU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Array/Graph)</a:t>
            </a:r>
            <a:endParaRPr lang="en-US" altLang="ru-RU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5" name="圆角矩形 9"/>
          <p:cNvSpPr/>
          <p:nvPr>
            <p:custDataLst>
              <p:tags r:id="rId9"/>
            </p:custDataLst>
          </p:nvPr>
        </p:nvSpPr>
        <p:spPr>
          <a:xfrm>
            <a:off x="5710238" y="3477215"/>
            <a:ext cx="6055838" cy="968244"/>
          </a:xfrm>
          <a:prstGeom prst="roundRect">
            <a:avLst>
              <a:gd name="adj" fmla="val 5000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endParaRPr lang="en-US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16" name="圆角矩形 11"/>
          <p:cNvSpPr/>
          <p:nvPr>
            <p:custDataLst>
              <p:tags r:id="rId10"/>
            </p:custDataLst>
          </p:nvPr>
        </p:nvSpPr>
        <p:spPr>
          <a:xfrm flipH="1">
            <a:off x="5850730" y="3579391"/>
            <a:ext cx="2314923" cy="6839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ru-RU" sz="2000" b="1" dirty="0">
                <a:solidFill>
                  <a:schemeClr val="lt1"/>
                </a:solidFill>
                <a:latin typeface="+mj-lt"/>
                <a:sym typeface="+mn-ea"/>
              </a:rPr>
              <a:t>SQLite</a:t>
            </a:r>
            <a:endParaRPr lang="en-US" altLang="ru-RU" sz="2000" b="1" dirty="0">
              <a:solidFill>
                <a:schemeClr val="lt1"/>
              </a:solidFill>
              <a:latin typeface="+mj-lt"/>
              <a:sym typeface="+mn-ea"/>
            </a:endParaRPr>
          </a:p>
        </p:txBody>
      </p:sp>
      <p:sp>
        <p:nvSpPr>
          <p:cNvPr id="17" name="矩形 3"/>
          <p:cNvSpPr/>
          <p:nvPr>
            <p:custDataLst>
              <p:tags r:id="rId11"/>
            </p:custDataLst>
          </p:nvPr>
        </p:nvSpPr>
        <p:spPr>
          <a:xfrm>
            <a:off x="8384692" y="3530218"/>
            <a:ext cx="3214709" cy="8198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JSON </a:t>
            </a:r>
            <a:r>
              <a:rPr lang="ru-RU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о</a:t>
            </a:r>
            <a:r>
              <a:rPr lang="ru-RU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писания алгоритмов</a:t>
            </a:r>
            <a:endParaRPr lang="ru-RU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3" name="Замещающее содержимое 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391795" y="4351020"/>
            <a:ext cx="11284585" cy="2322830"/>
          </a:xfrm>
          <a:prstGeom prst="rect">
            <a:avLst/>
          </a:prstGeom>
        </p:spPr>
        <p:txBody>
          <a:bodyPr vert="horz" wrap="square" lIns="0" tIns="0" rIns="0" bIns="0" numCol="1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en-US" sz="2000" b="1">
                <a:solidFill>
                  <a:schemeClr val="tx1"/>
                </a:solidFill>
                <a:ea typeface="+mn-ea"/>
              </a:rPr>
              <a:t>Особенности</a:t>
            </a:r>
            <a:r>
              <a:rPr lang="en-US" altLang="en-US" sz="2000" b="1">
                <a:solidFill>
                  <a:schemeClr val="tx1"/>
                </a:solidFill>
                <a:ea typeface="+mn-ea"/>
              </a:rPr>
              <a:t>:</a:t>
            </a:r>
            <a:endParaRPr lang="en-US" altLang="en-US" sz="2000" b="1">
              <a:solidFill>
                <a:schemeClr val="tx1"/>
              </a:solidFill>
              <a:ea typeface="+mn-ea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000">
                <a:solidFill>
                  <a:schemeClr val="tx1"/>
                </a:solidFill>
                <a:ea typeface="+mn-ea"/>
              </a:rPr>
              <a:t>Определения алгоритмов хранятся в БД как </a:t>
            </a:r>
            <a:r>
              <a:rPr lang="en-US" altLang="ru-RU" sz="2000" b="1">
                <a:solidFill>
                  <a:schemeClr val="tx1"/>
                </a:solidFill>
                <a:ea typeface="+mn-ea"/>
              </a:rPr>
              <a:t>JSON</a:t>
            </a:r>
            <a:r>
              <a:rPr lang="en-US" altLang="ru-RU" sz="2000">
                <a:solidFill>
                  <a:schemeClr val="tx1"/>
                </a:solidFill>
                <a:ea typeface="+mn-ea"/>
              </a:rPr>
              <a:t> (definition, input_schema, settings)</a:t>
            </a:r>
            <a:endParaRPr lang="en-US" altLang="ru-RU" sz="2000">
              <a:solidFill>
                <a:schemeClr val="tx1"/>
              </a:solidFill>
              <a:ea typeface="+mn-ea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000">
                <a:solidFill>
                  <a:schemeClr val="tx1"/>
                </a:solidFill>
                <a:ea typeface="+mn-ea"/>
              </a:rPr>
              <a:t>Новые алгоритмы добавляются через админку</a:t>
            </a:r>
            <a:endParaRPr lang="en-US" altLang="en-US" sz="2000">
              <a:solidFill>
                <a:schemeClr val="tx1"/>
              </a:solidFill>
              <a:ea typeface="+mn-ea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 sz="2000">
                <a:solidFill>
                  <a:schemeClr val="tx1"/>
                </a:solidFill>
                <a:ea typeface="+mn-ea"/>
              </a:rPr>
              <a:t>Два типа данных</a:t>
            </a:r>
            <a:r>
              <a:rPr lang="ru-RU" altLang="en-US" sz="2000">
                <a:solidFill>
                  <a:schemeClr val="tx1"/>
                </a:solidFill>
                <a:ea typeface="+mn-ea"/>
              </a:rPr>
              <a:t> (режима)</a:t>
            </a:r>
            <a:r>
              <a:rPr lang="en-US" altLang="en-US" sz="2000">
                <a:solidFill>
                  <a:schemeClr val="tx1"/>
                </a:solidFill>
                <a:ea typeface="+mn-ea"/>
              </a:rPr>
              <a:t>: массивы и графы (</a:t>
            </a:r>
            <a:r>
              <a:rPr lang="en-US" altLang="ru-RU" sz="2000">
                <a:solidFill>
                  <a:schemeClr val="tx1"/>
                </a:solidFill>
                <a:ea typeface="+mn-ea"/>
              </a:rPr>
              <a:t>igraph </a:t>
            </a:r>
            <a:r>
              <a:rPr lang="en-US" altLang="en-US" sz="2000">
                <a:solidFill>
                  <a:schemeClr val="tx1"/>
                </a:solidFill>
                <a:ea typeface="+mn-ea"/>
              </a:rPr>
              <a:t>для раскладки)</a:t>
            </a:r>
            <a:endParaRPr lang="en-US" altLang="en-US" sz="2000">
              <a:solidFill>
                <a:schemeClr val="tx1"/>
              </a:solidFill>
              <a:ea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74955" y="109855"/>
            <a:ext cx="11796395" cy="874395"/>
          </a:xfrm>
        </p:spPr>
        <p:txBody>
          <a:bodyPr>
            <a:normAutofit fontScale="90000"/>
          </a:bodyPr>
          <a:p>
            <a:r>
              <a:rPr lang="en-US" altLang="en-US"/>
              <a:t>Интерпретация алгоритмов и передача на рендер</a:t>
            </a:r>
            <a:endParaRPr lang="en-US" altLang="en-US"/>
          </a:p>
        </p:txBody>
      </p:sp>
      <p:sp>
        <p:nvSpPr>
          <p:cNvPr id="13" name="矩形 2"/>
          <p:cNvSpPr/>
          <p:nvPr>
            <p:custDataLst>
              <p:tags r:id="rId2"/>
            </p:custDataLst>
          </p:nvPr>
        </p:nvSpPr>
        <p:spPr>
          <a:xfrm>
            <a:off x="583567" y="1114100"/>
            <a:ext cx="4862487" cy="676652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altLang="ru-RU" sz="4000" b="1" dirty="0">
                <a:solidFill>
                  <a:schemeClr val="accent1">
                    <a:lumMod val="40000"/>
                    <a:lumOff val="60000"/>
                  </a:schemeClr>
                </a:solidFill>
                <a:sym typeface="+mn-ea"/>
              </a:rPr>
              <a:t>Interpreter</a:t>
            </a:r>
            <a:endParaRPr lang="en-US" sz="40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5" name="直接连接符 19"/>
          <p:cNvCxnSpPr/>
          <p:nvPr>
            <p:custDataLst>
              <p:tags r:id="rId3"/>
            </p:custDataLst>
          </p:nvPr>
        </p:nvCxnSpPr>
        <p:spPr>
          <a:xfrm>
            <a:off x="583871" y="1927057"/>
            <a:ext cx="4746960" cy="0"/>
          </a:xfrm>
          <a:prstGeom prst="line">
            <a:avLst/>
          </a:prstGeom>
          <a:ln w="1270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4"/>
          <p:cNvSpPr/>
          <p:nvPr>
            <p:custDataLst>
              <p:tags r:id="rId4"/>
            </p:custDataLst>
          </p:nvPr>
        </p:nvSpPr>
        <p:spPr>
          <a:xfrm>
            <a:off x="583870" y="2153513"/>
            <a:ext cx="4864123" cy="483196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sz="2800" b="1" dirty="0">
                <a:solidFill>
                  <a:schemeClr val="accent1"/>
                </a:solidFill>
                <a:latin typeface="+mj-lt"/>
              </a:rPr>
              <a:t>сервер</a:t>
            </a:r>
            <a:endParaRPr lang="ru-RU" alt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7" name="矩形 5"/>
          <p:cNvSpPr/>
          <p:nvPr>
            <p:custDataLst>
              <p:tags r:id="rId5"/>
            </p:custDataLst>
          </p:nvPr>
        </p:nvSpPr>
        <p:spPr>
          <a:xfrm>
            <a:off x="583567" y="2789554"/>
            <a:ext cx="5539103" cy="2793999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marL="171450" indent="-17145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ru-RU" sz="2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BaseInterpreter → ArrayInterpreter / GraphInterpreter</a:t>
            </a:r>
            <a:endParaRPr lang="en-US" altLang="ru-RU" sz="200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171450" indent="-17145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Вычисляет выражения</a:t>
            </a:r>
            <a:endParaRPr lang="en-US" altLang="ru-RU" sz="200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171450" indent="-17145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Генерирует команды</a:t>
            </a:r>
            <a:endParaRPr lang="en-US" altLang="ru-RU" sz="200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171450" indent="-17145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Создаёт </a:t>
            </a:r>
            <a:r>
              <a:rPr lang="en-US" altLang="ru-RU" sz="2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snapshots</a:t>
            </a:r>
            <a:r>
              <a:rPr lang="en-US" altLang="en-US" sz="2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для навигации</a:t>
            </a:r>
            <a:endParaRPr lang="en-US" altLang="en-US" sz="200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8" name="矩形 6"/>
          <p:cNvSpPr/>
          <p:nvPr>
            <p:custDataLst>
              <p:tags r:id="rId6"/>
            </p:custDataLst>
          </p:nvPr>
        </p:nvSpPr>
        <p:spPr>
          <a:xfrm>
            <a:off x="6683418" y="1118933"/>
            <a:ext cx="4862547" cy="67398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altLang="ru-RU" sz="4000" b="1" dirty="0">
                <a:solidFill>
                  <a:schemeClr val="accent2">
                    <a:lumMod val="40000"/>
                    <a:lumOff val="60000"/>
                  </a:schemeClr>
                </a:solidFill>
                <a:sym typeface="+mn-ea"/>
              </a:rPr>
              <a:t>Renderer + Player</a:t>
            </a:r>
            <a:endParaRPr lang="en-US" sz="40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9" name="直接连接符 10"/>
          <p:cNvCxnSpPr/>
          <p:nvPr>
            <p:custDataLst>
              <p:tags r:id="rId7"/>
            </p:custDataLst>
          </p:nvPr>
        </p:nvCxnSpPr>
        <p:spPr>
          <a:xfrm>
            <a:off x="6683418" y="1927057"/>
            <a:ext cx="4746960" cy="0"/>
          </a:xfrm>
          <a:prstGeom prst="line">
            <a:avLst/>
          </a:prstGeom>
          <a:ln w="12700">
            <a:solidFill>
              <a:schemeClr val="accent2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8"/>
          <p:cNvSpPr/>
          <p:nvPr>
            <p:custDataLst>
              <p:tags r:id="rId8"/>
            </p:custDataLst>
          </p:nvPr>
        </p:nvSpPr>
        <p:spPr>
          <a:xfrm>
            <a:off x="6683418" y="2153513"/>
            <a:ext cx="4864123" cy="483196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sz="2800" b="1" dirty="0">
                <a:solidFill>
                  <a:schemeClr val="accent2"/>
                </a:solidFill>
                <a:latin typeface="+mj-lt"/>
              </a:rPr>
              <a:t>клиент</a:t>
            </a:r>
            <a:endParaRPr lang="ru-RU" altLang="en-US" sz="28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2" name="矩形 13"/>
          <p:cNvSpPr/>
          <p:nvPr>
            <p:custDataLst>
              <p:tags r:id="rId9"/>
            </p:custDataLst>
          </p:nvPr>
        </p:nvSpPr>
        <p:spPr>
          <a:xfrm>
            <a:off x="6683375" y="2789554"/>
            <a:ext cx="5669278" cy="2806699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ru-RU" sz="2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ArrayRenderer / GraphRenderer </a:t>
            </a:r>
            <a:r>
              <a:rPr lang="en-US" altLang="en-US" sz="2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выполняют команды (</a:t>
            </a:r>
            <a:r>
              <a:rPr lang="en-US" altLang="ru-RU" sz="2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DOM/Canvas)</a:t>
            </a:r>
            <a:endParaRPr lang="en-US" altLang="ru-RU" sz="200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ru-RU" sz="2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VisualizationPlayer </a:t>
            </a:r>
            <a:r>
              <a:rPr lang="en-US" altLang="en-US" sz="2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управляет паузой/игрой, шагами</a:t>
            </a:r>
            <a:endParaRPr lang="en-US" altLang="ru-RU" sz="200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Ползунок шагов восстанавливает состояние из ближайшего снапшота</a:t>
            </a:r>
            <a:endParaRPr lang="en-US" altLang="en-US" sz="200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23" name="Текстовое поле 22"/>
          <p:cNvSpPr txBox="1"/>
          <p:nvPr/>
        </p:nvSpPr>
        <p:spPr>
          <a:xfrm>
            <a:off x="1311275" y="5992495"/>
            <a:ext cx="8844915" cy="866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2400"/>
              <a:t>Результат: единый язык команд между сервером и клиентом → </a:t>
            </a:r>
            <a:r>
              <a:rPr lang="en-US" altLang="en-US" sz="2400" i="1"/>
              <a:t>легко расширять и отлаживать.</a:t>
            </a:r>
            <a:endParaRPr lang="en-US" altLang="en-US" sz="2400" i="1"/>
          </a:p>
        </p:txBody>
      </p:sp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Текстовое поле 6"/>
          <p:cNvSpPr txBox="1"/>
          <p:nvPr/>
        </p:nvSpPr>
        <p:spPr>
          <a:xfrm>
            <a:off x="177800" y="4099560"/>
            <a:ext cx="52203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4800" b="1"/>
              <a:t>Визуализация: ключевые возможности</a:t>
            </a:r>
            <a:endParaRPr lang="en-US" altLang="en-US" sz="4800" b="1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403860" y="868045"/>
            <a:ext cx="5545455" cy="2560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2000"/>
              <a:t>Регулировка скорости анимации (</a:t>
            </a:r>
            <a:r>
              <a:rPr lang="en-US" altLang="ru-RU" sz="2000"/>
              <a:t>speedFactor)</a:t>
            </a:r>
            <a:endParaRPr lang="en-US" altLang="ru-RU" sz="2000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ru-RU" sz="20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2000"/>
              <a:t>Изменение размера элементов (масштабирование координат)</a:t>
            </a:r>
            <a:endParaRPr lang="en-US" altLang="en-US" sz="2000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ru-RU" sz="20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2000"/>
              <a:t>Автоцентрирование, поддержка </a:t>
            </a:r>
            <a:r>
              <a:rPr lang="en-US" altLang="ru-RU" sz="2000"/>
              <a:t>showIndices</a:t>
            </a:r>
            <a:endParaRPr lang="ru-RU" altLang="en-US" sz="2000"/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5593080" y="868045"/>
            <a:ext cx="5899785" cy="2423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000"/>
              <a:t>Создание элементов, анимированный </a:t>
            </a:r>
            <a:r>
              <a:rPr lang="en-US" altLang="ru-RU" sz="2000"/>
              <a:t>swap, move_straight</a:t>
            </a:r>
            <a:endParaRPr lang="en-US" altLang="ru-RU" sz="2000"/>
          </a:p>
          <a:p>
            <a:pPr marL="342900" indent="-342900">
              <a:buFont typeface="Wingdings" panose="05000000000000000000" charset="0"/>
              <a:buChar char="Ø"/>
            </a:pPr>
            <a:endParaRPr lang="en-US" altLang="ru-RU" sz="200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000"/>
              <a:t>Подсветка (</a:t>
            </a:r>
            <a:r>
              <a:rPr lang="en-US" altLang="ru-RU" sz="2000"/>
              <a:t>highlight/unhighlight), </a:t>
            </a:r>
            <a:r>
              <a:rPr lang="en-US" altLang="en-US" sz="2000"/>
              <a:t>изменение прозрачности</a:t>
            </a:r>
            <a:endParaRPr lang="ru-RU" altLang="en-US" sz="2000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5593080" y="3916045"/>
            <a:ext cx="6598920" cy="2941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altLang="en-US" sz="2000"/>
              <a:t>Узлы (</a:t>
            </a:r>
            <a:r>
              <a:rPr lang="en-US" altLang="ru-RU" sz="2000"/>
              <a:t>div + absolute) + </a:t>
            </a:r>
            <a:r>
              <a:rPr lang="en-US" altLang="en-US" sz="2000"/>
              <a:t>рёбра (</a:t>
            </a:r>
            <a:r>
              <a:rPr lang="en-US" altLang="ru-RU" sz="2000"/>
              <a:t>canvas → </a:t>
            </a:r>
            <a:r>
              <a:rPr lang="en-US" altLang="en-US" sz="2000"/>
              <a:t>перерисовка при движении)</a:t>
            </a:r>
            <a:endParaRPr lang="en-US" altLang="en-US" sz="2000"/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Ø"/>
            </a:pPr>
            <a:endParaRPr lang="en-US" altLang="ru-RU" sz="2000"/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altLang="en-US" sz="2000"/>
              <a:t>Ориентированные/неориентированные графы</a:t>
            </a:r>
            <a:endParaRPr lang="en-US" altLang="en-US" sz="2000"/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Ø"/>
            </a:pPr>
            <a:endParaRPr lang="en-US" altLang="ru-RU" sz="2000"/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altLang="en-US" sz="2000"/>
              <a:t>Раскладка через </a:t>
            </a:r>
            <a:r>
              <a:rPr lang="en-US" altLang="ru-RU" sz="2000"/>
              <a:t>igraph (kamada_kawai, planar)</a:t>
            </a:r>
            <a:endParaRPr lang="en-US" altLang="ru-RU" sz="2000"/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Ø"/>
            </a:pPr>
            <a:endParaRPr lang="en-US" altLang="ru-RU" sz="2000"/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altLang="en-US" sz="2000"/>
              <a:t>Команды: </a:t>
            </a:r>
            <a:r>
              <a:rPr lang="en-US" altLang="ru-RU" sz="2000"/>
              <a:t>highlight_node, highlight_edge, set_node_label</a:t>
            </a:r>
            <a:endParaRPr lang="en-US" altLang="ru-RU" sz="200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2205990" y="346075"/>
            <a:ext cx="14585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/>
              <a:t>Общие</a:t>
            </a:r>
            <a:endParaRPr lang="en-US" altLang="en-US" sz="2800"/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7031990" y="346075"/>
            <a:ext cx="3022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/>
              <a:t>ArrayRenderer</a:t>
            </a:r>
            <a:endParaRPr lang="en-US" altLang="ru-RU" sz="2800"/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7134860" y="3342640"/>
            <a:ext cx="3116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/>
              <a:t>GraphRenderer</a:t>
            </a:r>
            <a:endParaRPr lang="en-US" altLang="ru-RU" sz="28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1" name="Замещающий текст 330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>
          <a:xfrm>
            <a:off x="694690" y="4182110"/>
            <a:ext cx="4036142" cy="504190"/>
          </a:xfrm>
        </p:spPr>
        <p:txBody>
          <a:bodyPr/>
          <a:p>
            <a:r>
              <a:rPr lang="ru-RU" altLang="en-US"/>
              <a:t>署名占位符</a:t>
            </a:r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659130" y="182880"/>
            <a:ext cx="10874375" cy="958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4400" b="1"/>
              <a:t>Управление и администрирование</a:t>
            </a:r>
            <a:endParaRPr lang="en-US" altLang="en-US" sz="4400" b="1"/>
          </a:p>
        </p:txBody>
      </p:sp>
      <p:sp>
        <p:nvSpPr>
          <p:cNvPr id="10" name="Rectangle 14_#color-804&amp;11266"/>
          <p:cNvSpPr/>
          <p:nvPr>
            <p:custDataLst>
              <p:tags r:id="rId2"/>
            </p:custDataLst>
          </p:nvPr>
        </p:nvSpPr>
        <p:spPr>
          <a:xfrm>
            <a:off x="760611" y="1335867"/>
            <a:ext cx="3470220" cy="4904044"/>
          </a:xfrm>
          <a:prstGeom prst="roundRect">
            <a:avLst>
              <a:gd name="adj" fmla="val 9483"/>
            </a:avLst>
          </a:prstGeom>
          <a:solidFill>
            <a:schemeClr val="lt1"/>
          </a:solidFill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Rectangle 14_#color-804&amp;11267"/>
          <p:cNvSpPr/>
          <p:nvPr>
            <p:custDataLst>
              <p:tags r:id="rId3"/>
            </p:custDataLst>
          </p:nvPr>
        </p:nvSpPr>
        <p:spPr>
          <a:xfrm>
            <a:off x="8258762" y="1344813"/>
            <a:ext cx="3470220" cy="4877464"/>
          </a:xfrm>
          <a:prstGeom prst="roundRect">
            <a:avLst>
              <a:gd name="adj" fmla="val 9483"/>
            </a:avLst>
          </a:prstGeom>
          <a:solidFill>
            <a:schemeClr val="lt1"/>
          </a:solidFill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Rectangle 14_#color_$accent1_$accent2-804&amp;11259"/>
          <p:cNvSpPr/>
          <p:nvPr>
            <p:custDataLst>
              <p:tags r:id="rId4"/>
            </p:custDataLst>
          </p:nvPr>
        </p:nvSpPr>
        <p:spPr>
          <a:xfrm>
            <a:off x="4509687" y="1105184"/>
            <a:ext cx="3469930" cy="5568917"/>
          </a:xfrm>
          <a:prstGeom prst="roundRect">
            <a:avLst>
              <a:gd name="adj" fmla="val 9484"/>
            </a:avLst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 w="3175" cap="flat" cmpd="sng" algn="ctr">
            <a:solidFill>
              <a:schemeClr val="accent2">
                <a:lumMod val="75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0" dist="101600" dir="5399998" algn="ctr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Rectangle 41749_#color_$accent1_$accent2-804&amp;11269"/>
          <p:cNvSpPr/>
          <p:nvPr>
            <p:custDataLst>
              <p:tags r:id="rId5"/>
            </p:custDataLst>
          </p:nvPr>
        </p:nvSpPr>
        <p:spPr>
          <a:xfrm>
            <a:off x="8751355" y="1714273"/>
            <a:ext cx="2976031" cy="917016"/>
          </a:xfrm>
          <a:custGeom>
            <a:avLst/>
            <a:gdLst/>
            <a:ahLst/>
            <a:cxnLst/>
            <a:rect l="l" t="t" r="r" b="b"/>
            <a:pathLst>
              <a:path w="2871216" h="630936">
                <a:moveTo>
                  <a:pt x="0" y="128016"/>
                </a:moveTo>
                <a:cubicBezTo>
                  <a:pt x="0" y="54864"/>
                  <a:pt x="54864" y="0"/>
                  <a:pt x="128016" y="0"/>
                </a:cubicBezTo>
                <a:lnTo>
                  <a:pt x="2871216" y="0"/>
                </a:lnTo>
                <a:lnTo>
                  <a:pt x="2871216" y="630936"/>
                </a:lnTo>
                <a:lnTo>
                  <a:pt x="128016" y="630936"/>
                </a:lnTo>
                <a:cubicBezTo>
                  <a:pt x="54864" y="630936"/>
                  <a:pt x="0" y="576072"/>
                  <a:pt x="0" y="512064"/>
                </a:cubicBezTo>
                <a:lnTo>
                  <a:pt x="0" y="128016"/>
                </a:lnTo>
              </a:path>
            </a:pathLst>
          </a:custGeom>
          <a:gradFill>
            <a:gsLst>
              <a:gs pos="0">
                <a:schemeClr val="accent1">
                  <a:lumMod val="75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32400" tIns="108000" rIns="525600" bIns="0">
            <a:normAutofit/>
          </a:bodyPr>
          <a:p>
            <a:pPr algn="ctr"/>
            <a:r>
              <a:rPr lang="en-US" altLang="ru-RU" sz="2400" b="1" dirty="0">
                <a:solidFill>
                  <a:srgbClr val="FFFFFF"/>
                </a:solidFill>
                <a:latin typeface="+mj-lt"/>
                <a:sym typeface="+mn-ea"/>
              </a:rPr>
              <a:t>Roles</a:t>
            </a:r>
            <a:endParaRPr lang="en-US" altLang="ru-RU" sz="2400" b="1" dirty="0">
              <a:solidFill>
                <a:srgbClr val="FFFFFF"/>
              </a:solidFill>
              <a:latin typeface="+mj-lt"/>
              <a:sym typeface="+mn-ea"/>
            </a:endParaRPr>
          </a:p>
        </p:txBody>
      </p:sp>
      <p:sp>
        <p:nvSpPr>
          <p:cNvPr id="12" name="Rectangle 41748_#color_$accent1_$accent2-804&amp;11268"/>
          <p:cNvSpPr/>
          <p:nvPr>
            <p:custDataLst>
              <p:tags r:id="rId6"/>
            </p:custDataLst>
          </p:nvPr>
        </p:nvSpPr>
        <p:spPr>
          <a:xfrm>
            <a:off x="1254474" y="1722529"/>
            <a:ext cx="2976031" cy="917016"/>
          </a:xfrm>
          <a:custGeom>
            <a:avLst/>
            <a:gdLst/>
            <a:ahLst/>
            <a:cxnLst/>
            <a:rect l="l" t="t" r="r" b="b"/>
            <a:pathLst>
              <a:path w="2871216" h="630936">
                <a:moveTo>
                  <a:pt x="0" y="128016"/>
                </a:moveTo>
                <a:cubicBezTo>
                  <a:pt x="0" y="54864"/>
                  <a:pt x="54864" y="0"/>
                  <a:pt x="128016" y="0"/>
                </a:cubicBezTo>
                <a:lnTo>
                  <a:pt x="2871216" y="0"/>
                </a:lnTo>
                <a:lnTo>
                  <a:pt x="2871216" y="630936"/>
                </a:lnTo>
                <a:lnTo>
                  <a:pt x="128016" y="630936"/>
                </a:lnTo>
                <a:cubicBezTo>
                  <a:pt x="54864" y="630936"/>
                  <a:pt x="0" y="576072"/>
                  <a:pt x="0" y="512064"/>
                </a:cubicBezTo>
                <a:lnTo>
                  <a:pt x="0" y="128016"/>
                </a:lnTo>
              </a:path>
            </a:pathLst>
          </a:custGeom>
          <a:gradFill>
            <a:gsLst>
              <a:gs pos="0">
                <a:schemeClr val="accent1">
                  <a:lumMod val="75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32400" tIns="108000" rIns="525600" bIns="0">
            <a:normAutofit/>
          </a:bodyPr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  <a:sym typeface="+mn-ea"/>
              </a:rPr>
              <a:t>Admin Panel</a:t>
            </a:r>
            <a:endParaRPr lang="en-US" sz="2400" b="1" dirty="0">
              <a:solidFill>
                <a:srgbClr val="FFFFFF"/>
              </a:solidFill>
              <a:latin typeface="+mj-lt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8258175" y="2787015"/>
            <a:ext cx="3481508" cy="1905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marL="285750" indent="-28575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ru-RU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admin</a:t>
            </a:r>
            <a:r>
              <a:rPr lang="en-US" altLang="ru-RU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– </a:t>
            </a:r>
            <a:r>
              <a:rPr lang="en-US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полный доступ к панели /</a:t>
            </a:r>
            <a:r>
              <a:rPr lang="en-US" altLang="ru-RU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admin/dashboard</a:t>
            </a:r>
            <a:endParaRPr lang="en-US" altLang="ru-RU" sz="1600" dirty="0">
              <a:solidFill>
                <a:schemeClr val="dk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ru-RU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user</a:t>
            </a:r>
            <a:r>
              <a:rPr lang="en-US" altLang="ru-RU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– </a:t>
            </a:r>
            <a:r>
              <a:rPr lang="en-US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стандартный (каталог, визуализация)</a:t>
            </a:r>
            <a:endParaRPr lang="en-US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784225" y="2639695"/>
            <a:ext cx="3446190" cy="3377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sz="15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Метрики:</a:t>
            </a:r>
            <a:r>
              <a:rPr lang="en-US" altLang="en-US" sz="1500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пользователи, алгоритмы, размер БД, системные ресурсы (</a:t>
            </a:r>
            <a:r>
              <a:rPr lang="en-US" altLang="ru-RU" sz="1500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psutil)</a:t>
            </a:r>
            <a:endParaRPr lang="en-US" altLang="ru-RU" sz="1500" dirty="0">
              <a:solidFill>
                <a:schemeClr val="dk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indent="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endParaRPr lang="en-US" altLang="ru-RU" sz="1500" dirty="0">
              <a:solidFill>
                <a:schemeClr val="dk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171450" indent="-17145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sz="15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Управление</a:t>
            </a:r>
            <a:r>
              <a:rPr lang="en-US" altLang="en-US" sz="1500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пользователями (редактирование, удаление, блокировка, смена ролей)</a:t>
            </a:r>
            <a:endParaRPr lang="en-US" altLang="en-US" sz="1500" dirty="0">
              <a:solidFill>
                <a:schemeClr val="dk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171450" indent="-17145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endParaRPr lang="en-US" altLang="en-US" sz="1500" dirty="0">
              <a:solidFill>
                <a:schemeClr val="dk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171450" indent="-17145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ru-RU" sz="15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CRUD </a:t>
            </a:r>
            <a:r>
              <a:rPr lang="en-US" altLang="en-US" sz="15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алгоритмов</a:t>
            </a:r>
            <a:r>
              <a:rPr lang="en-US" altLang="en-US" sz="1500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через форму с </a:t>
            </a:r>
            <a:r>
              <a:rPr lang="en-US" altLang="ru-RU" sz="1500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JSON-</a:t>
            </a:r>
            <a:r>
              <a:rPr lang="en-US" altLang="en-US" sz="1500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полями</a:t>
            </a:r>
            <a:endParaRPr lang="en-US" altLang="en-US" sz="1500" dirty="0">
              <a:solidFill>
                <a:schemeClr val="dk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4510242" y="2639407"/>
            <a:ext cx="3426924" cy="345321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285750" indent="-285750"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ru-RU" sz="1600" b="1" dirty="0">
                <a:solidFill>
                  <a:schemeClr val="tx1"/>
                </a:solidFill>
                <a:latin typeface="+mn-lt"/>
                <a:sym typeface="+mn-ea"/>
              </a:rPr>
              <a:t>POST /api/admin/algorithms</a:t>
            </a:r>
            <a:r>
              <a:rPr lang="en-US" altLang="ru-RU" sz="1600" dirty="0">
                <a:solidFill>
                  <a:schemeClr val="tx1"/>
                </a:solidFill>
                <a:latin typeface="+mn-lt"/>
                <a:sym typeface="+mn-ea"/>
              </a:rPr>
              <a:t> – </a:t>
            </a:r>
            <a:r>
              <a:rPr lang="en-US" altLang="en-US" sz="1600" dirty="0">
                <a:solidFill>
                  <a:schemeClr val="tx1"/>
                </a:solidFill>
                <a:latin typeface="+mn-lt"/>
                <a:sym typeface="+mn-ea"/>
              </a:rPr>
              <a:t>создание алгоритма</a:t>
            </a:r>
            <a:endParaRPr lang="en-US" altLang="ru-RU" sz="1600" dirty="0">
              <a:solidFill>
                <a:schemeClr val="tx1"/>
              </a:solidFill>
              <a:latin typeface="+mn-lt"/>
              <a:sym typeface="+mn-ea"/>
            </a:endParaRPr>
          </a:p>
          <a:p>
            <a:pPr marL="285750" indent="-285750"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ru-RU" sz="1600" b="1" dirty="0">
                <a:solidFill>
                  <a:schemeClr val="tx1"/>
                </a:solidFill>
                <a:latin typeface="+mn-lt"/>
                <a:sym typeface="+mn-ea"/>
              </a:rPr>
              <a:t>PUT, DELETE, GET /api/admin/algorithms/&lt;id&gt;</a:t>
            </a:r>
            <a:endParaRPr lang="en-US" altLang="ru-RU" sz="1600" dirty="0">
              <a:solidFill>
                <a:schemeClr val="tx1"/>
              </a:solidFill>
              <a:latin typeface="+mn-lt"/>
              <a:sym typeface="+mn-ea"/>
            </a:endParaRPr>
          </a:p>
          <a:p>
            <a:pPr marL="285750" indent="-285750"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ru-RU" sz="1600" b="1" dirty="0">
                <a:solidFill>
                  <a:schemeClr val="tx1"/>
                </a:solidFill>
                <a:latin typeface="+mn-lt"/>
                <a:sym typeface="+mn-ea"/>
              </a:rPr>
              <a:t>POST /algo/api/visualize</a:t>
            </a:r>
            <a:r>
              <a:rPr lang="en-US" altLang="ru-RU" sz="1600" dirty="0">
                <a:solidFill>
                  <a:schemeClr val="tx1"/>
                </a:solidFill>
                <a:latin typeface="+mn-lt"/>
                <a:sym typeface="+mn-ea"/>
              </a:rPr>
              <a:t> – </a:t>
            </a:r>
            <a:r>
              <a:rPr lang="en-US" altLang="en-US" sz="1600" dirty="0">
                <a:solidFill>
                  <a:schemeClr val="tx1"/>
                </a:solidFill>
                <a:latin typeface="+mn-lt"/>
                <a:sym typeface="+mn-ea"/>
              </a:rPr>
              <a:t>выполнение алгоритма с переданными данными</a:t>
            </a:r>
            <a:endParaRPr lang="en-US" altLang="en-US" sz="1600" dirty="0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21" name="Rectangle 41747_#color-804&amp;11260"/>
          <p:cNvSpPr/>
          <p:nvPr>
            <p:custDataLst>
              <p:tags r:id="rId10"/>
            </p:custDataLst>
          </p:nvPr>
        </p:nvSpPr>
        <p:spPr>
          <a:xfrm>
            <a:off x="5002915" y="1714273"/>
            <a:ext cx="2976031" cy="917016"/>
          </a:xfrm>
          <a:custGeom>
            <a:avLst/>
            <a:gdLst/>
            <a:ahLst/>
            <a:cxnLst/>
            <a:rect l="l" t="t" r="r" b="b"/>
            <a:pathLst>
              <a:path w="2871216" h="630936">
                <a:moveTo>
                  <a:pt x="0" y="128016"/>
                </a:moveTo>
                <a:cubicBezTo>
                  <a:pt x="0" y="54864"/>
                  <a:pt x="54864" y="0"/>
                  <a:pt x="128016" y="0"/>
                </a:cubicBezTo>
                <a:lnTo>
                  <a:pt x="2871216" y="0"/>
                </a:lnTo>
                <a:lnTo>
                  <a:pt x="2871216" y="630936"/>
                </a:lnTo>
                <a:lnTo>
                  <a:pt x="128016" y="630936"/>
                </a:lnTo>
                <a:cubicBezTo>
                  <a:pt x="54864" y="630936"/>
                  <a:pt x="0" y="576072"/>
                  <a:pt x="0" y="512064"/>
                </a:cubicBezTo>
                <a:lnTo>
                  <a:pt x="0" y="128016"/>
                </a:lnTo>
              </a:path>
            </a:pathLst>
          </a:custGeom>
          <a:solidFill>
            <a:schemeClr val="lt1"/>
          </a:solidFill>
        </p:spPr>
        <p:txBody>
          <a:bodyPr wrap="square" lIns="32400" tIns="108000" rIns="551688" bIns="0">
            <a:normAutofit/>
          </a:bodyPr>
          <a:p>
            <a:pPr algn="ctr"/>
            <a:r>
              <a:rPr lang="en-US" altLang="ru-RU" sz="2400" b="1" dirty="0">
                <a:solidFill>
                  <a:schemeClr val="tx2">
                    <a:lumMod val="50000"/>
                  </a:schemeClr>
                </a:solidFill>
                <a:latin typeface="+mj-lt"/>
                <a:sym typeface="+mn-ea"/>
              </a:rPr>
              <a:t>API (REST)</a:t>
            </a:r>
            <a:endParaRPr lang="en-US" altLang="ru-RU" sz="2400" b="1" dirty="0">
              <a:solidFill>
                <a:schemeClr val="tx2">
                  <a:lumMod val="50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258175" y="4692015"/>
            <a:ext cx="347169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/>
            <a:r>
              <a:rPr lang="en-US" altLang="en-US" sz="1600" b="1">
                <a:solidFill>
                  <a:schemeClr val="bg2"/>
                </a:solidFill>
              </a:rPr>
              <a:t>Безопасность:</a:t>
            </a:r>
            <a:r>
              <a:rPr lang="en-US" altLang="en-US" sz="1600">
                <a:solidFill>
                  <a:schemeClr val="bg2"/>
                </a:solidFill>
              </a:rPr>
              <a:t> @</a:t>
            </a:r>
            <a:r>
              <a:rPr lang="en-US" altLang="ru-RU" sz="1600">
                <a:solidFill>
                  <a:schemeClr val="bg2"/>
                </a:solidFill>
              </a:rPr>
              <a:t>login_required, </a:t>
            </a:r>
            <a:r>
              <a:rPr lang="en-US" altLang="en-US" sz="1600">
                <a:solidFill>
                  <a:schemeClr val="bg2"/>
                </a:solidFill>
              </a:rPr>
              <a:t>проверка </a:t>
            </a:r>
            <a:r>
              <a:rPr lang="en-US" altLang="ru-RU" sz="1600">
                <a:solidFill>
                  <a:schemeClr val="bg2"/>
                </a:solidFill>
              </a:rPr>
              <a:t>current_user.is_admin()</a:t>
            </a:r>
            <a:endParaRPr lang="en-US" altLang="ru-RU" sz="1600">
              <a:solidFill>
                <a:schemeClr val="bg2"/>
              </a:solidFill>
            </a:endParaRPr>
          </a:p>
        </p:txBody>
      </p:sp>
      <p:sp>
        <p:nvSpPr>
          <p:cNvPr id="329" name="Текстовое поле 328"/>
          <p:cNvSpPr txBox="1"/>
          <p:nvPr/>
        </p:nvSpPr>
        <p:spPr>
          <a:xfrm>
            <a:off x="4443095" y="5150485"/>
            <a:ext cx="3607435" cy="13658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/>
            <a:r>
              <a:rPr lang="en-US" altLang="ru-RU" sz="1400" b="1" i="1"/>
              <a:t>{</a:t>
            </a:r>
            <a:endParaRPr lang="en-US" altLang="ru-RU" sz="1400" b="1" i="1"/>
          </a:p>
          <a:p>
            <a:pPr algn="l"/>
            <a:r>
              <a:rPr lang="en-US" altLang="ru-RU" sz="1400" b="1" i="1"/>
              <a:t>"algorithm_id": "linear-search",</a:t>
            </a:r>
            <a:endParaRPr lang="en-US" altLang="ru-RU" sz="1400" b="1" i="1"/>
          </a:p>
          <a:p>
            <a:pPr algn="l"/>
            <a:r>
              <a:rPr lang="en-US" altLang="ru-RU" sz="1400" b="1" i="1"/>
              <a:t>  "input_data": {</a:t>
            </a:r>
            <a:endParaRPr lang="en-US" altLang="ru-RU" sz="1400" b="1" i="1"/>
          </a:p>
          <a:p>
            <a:pPr algn="l"/>
            <a:r>
              <a:rPr lang="en-US" altLang="ru-RU" sz="1400" b="1" i="1"/>
              <a:t>"input_array": [1,3,5], "target": 5}</a:t>
            </a:r>
            <a:endParaRPr lang="en-US" altLang="ru-RU" sz="1400" b="1" i="1"/>
          </a:p>
          <a:p>
            <a:pPr algn="l"/>
            <a:r>
              <a:rPr lang="en-US" altLang="ru-RU" sz="1400" b="1" i="1"/>
              <a:t>}</a:t>
            </a:r>
            <a:endParaRPr lang="en-US" altLang="ru-RU" sz="1400" b="1" i="1"/>
          </a:p>
        </p:txBody>
      </p:sp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2670810" y="658495"/>
            <a:ext cx="6849745" cy="635635"/>
          </a:xfrm>
        </p:spPr>
        <p:txBody>
          <a:bodyPr>
            <a:noAutofit/>
          </a:bodyPr>
          <a:p>
            <a:pPr algn="ctr"/>
            <a:r>
              <a:rPr lang="en-US" altLang="en-US" sz="4400"/>
              <a:t>Итоги и перспективы</a:t>
            </a:r>
            <a:endParaRPr lang="en-US" altLang="en-US" sz="4400"/>
          </a:p>
        </p:txBody>
      </p:sp>
      <p:sp>
        <p:nvSpPr>
          <p:cNvPr id="8" name="圆角矩形 7"/>
          <p:cNvSpPr/>
          <p:nvPr>
            <p:custDataLst>
              <p:tags r:id="rId2"/>
            </p:custDataLst>
          </p:nvPr>
        </p:nvSpPr>
        <p:spPr>
          <a:xfrm>
            <a:off x="6791008" y="2209801"/>
            <a:ext cx="4072890" cy="4354830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7017385" y="3428365"/>
            <a:ext cx="3622040" cy="2599690"/>
          </a:xfrm>
          <a:prstGeom prst="rect">
            <a:avLst/>
          </a:prstGeom>
        </p:spPr>
        <p:txBody>
          <a:bodyPr wrap="square" lIns="0" tIns="0" rIns="0" bIns="0">
            <a:normAutofit fontScale="90000"/>
          </a:bodyPr>
          <a:p>
            <a:pPr marL="285750" indent="-28575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Полноценная </a:t>
            </a:r>
            <a:r>
              <a:rPr lang="en-US" altLang="ru-RU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SPA </a:t>
            </a:r>
            <a:r>
              <a:rPr lang="en-US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с визуализацией массивов и графов</a:t>
            </a:r>
            <a:endParaRPr lang="en-US" altLang="ru-RU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285750" indent="-28575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Расширяемая </a:t>
            </a:r>
            <a:r>
              <a:rPr lang="en-US" altLang="ru-RU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JSON-</a:t>
            </a:r>
            <a:r>
              <a:rPr lang="en-US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архитектура алгоритмов</a:t>
            </a:r>
            <a:endParaRPr lang="en-US" altLang="ru-RU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285750" indent="-28575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-US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Ролевая модель, админ-панель</a:t>
            </a:r>
            <a:endParaRPr lang="en-US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7247573" y="2799081"/>
            <a:ext cx="3160395" cy="4425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kern="0" dirty="0">
                <a:solidFill>
                  <a:schemeClr val="accent2"/>
                </a:solidFill>
                <a:latin typeface="+mj-lt"/>
              </a:rPr>
              <a:t>Что реализовано</a:t>
            </a:r>
            <a:endParaRPr lang="en-US" altLang="en-US" sz="2400" b="1" kern="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5" name="椭圆 2"/>
          <p:cNvSpPr/>
          <p:nvPr>
            <p:custDataLst>
              <p:tags r:id="rId5"/>
            </p:custDataLst>
          </p:nvPr>
        </p:nvSpPr>
        <p:spPr>
          <a:xfrm>
            <a:off x="8382318" y="1783080"/>
            <a:ext cx="890270" cy="89027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椭圆 5"/>
          <p:cNvSpPr/>
          <p:nvPr>
            <p:custDataLst>
              <p:tags r:id="rId6"/>
            </p:custDataLst>
          </p:nvPr>
        </p:nvSpPr>
        <p:spPr>
          <a:xfrm>
            <a:off x="8412798" y="1782445"/>
            <a:ext cx="829945" cy="829945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任意多边形: 形状 15"/>
          <p:cNvSpPr/>
          <p:nvPr>
            <p:custDataLst>
              <p:tags r:id="rId7"/>
            </p:custDataLst>
          </p:nvPr>
        </p:nvSpPr>
        <p:spPr>
          <a:xfrm>
            <a:off x="8673148" y="2034540"/>
            <a:ext cx="307193" cy="323851"/>
          </a:xfrm>
          <a:custGeom>
            <a:avLst/>
            <a:gdLst>
              <a:gd name="connsiteX0" fmla="*/ 131280 w 141701"/>
              <a:gd name="connsiteY0" fmla="*/ 20007 h 20395"/>
              <a:gd name="connsiteX1" fmla="*/ 9780 w 141701"/>
              <a:gd name="connsiteY1" fmla="*/ 20007 h 20395"/>
              <a:gd name="connsiteX2" fmla="*/ -321 w 141701"/>
              <a:gd name="connsiteY2" fmla="*/ 9809 h 20395"/>
              <a:gd name="connsiteX3" fmla="*/ 9780 w 141701"/>
              <a:gd name="connsiteY3" fmla="*/ -389 h 20395"/>
              <a:gd name="connsiteX4" fmla="*/ 131280 w 141701"/>
              <a:gd name="connsiteY4" fmla="*/ -389 h 20395"/>
              <a:gd name="connsiteX5" fmla="*/ 141381 w 141701"/>
              <a:gd name="connsiteY5" fmla="*/ 9809 h 20395"/>
              <a:gd name="connsiteX6" fmla="*/ 131280 w 141701"/>
              <a:gd name="connsiteY6" fmla="*/ 20007 h 20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4" h="510">
                <a:moveTo>
                  <a:pt x="278" y="270"/>
                </a:moveTo>
                <a:lnTo>
                  <a:pt x="87" y="270"/>
                </a:lnTo>
                <a:cubicBezTo>
                  <a:pt x="78" y="270"/>
                  <a:pt x="71" y="263"/>
                  <a:pt x="71" y="254"/>
                </a:cubicBezTo>
                <a:cubicBezTo>
                  <a:pt x="71" y="245"/>
                  <a:pt x="78" y="238"/>
                  <a:pt x="87" y="238"/>
                </a:cubicBezTo>
                <a:lnTo>
                  <a:pt x="278" y="238"/>
                </a:lnTo>
                <a:cubicBezTo>
                  <a:pt x="287" y="238"/>
                  <a:pt x="294" y="245"/>
                  <a:pt x="294" y="254"/>
                </a:cubicBezTo>
                <a:cubicBezTo>
                  <a:pt x="294" y="263"/>
                  <a:pt x="287" y="270"/>
                  <a:pt x="278" y="270"/>
                </a:cubicBezTo>
                <a:close/>
                <a:moveTo>
                  <a:pt x="326" y="159"/>
                </a:moveTo>
                <a:lnTo>
                  <a:pt x="87" y="159"/>
                </a:lnTo>
                <a:cubicBezTo>
                  <a:pt x="78" y="159"/>
                  <a:pt x="71" y="152"/>
                  <a:pt x="71" y="143"/>
                </a:cubicBezTo>
                <a:cubicBezTo>
                  <a:pt x="71" y="134"/>
                  <a:pt x="78" y="127"/>
                  <a:pt x="87" y="127"/>
                </a:cubicBezTo>
                <a:lnTo>
                  <a:pt x="326" y="127"/>
                </a:lnTo>
                <a:cubicBezTo>
                  <a:pt x="335" y="127"/>
                  <a:pt x="342" y="134"/>
                  <a:pt x="342" y="143"/>
                </a:cubicBezTo>
                <a:cubicBezTo>
                  <a:pt x="342" y="152"/>
                  <a:pt x="335" y="159"/>
                  <a:pt x="326" y="159"/>
                </a:cubicBezTo>
                <a:close/>
                <a:moveTo>
                  <a:pt x="388" y="510"/>
                </a:moveTo>
                <a:lnTo>
                  <a:pt x="43" y="510"/>
                </a:lnTo>
                <a:cubicBezTo>
                  <a:pt x="19" y="510"/>
                  <a:pt x="0" y="492"/>
                  <a:pt x="0" y="470"/>
                </a:cubicBezTo>
                <a:lnTo>
                  <a:pt x="0" y="40"/>
                </a:lnTo>
                <a:cubicBezTo>
                  <a:pt x="0" y="18"/>
                  <a:pt x="19" y="0"/>
                  <a:pt x="43" y="0"/>
                </a:cubicBezTo>
                <a:lnTo>
                  <a:pt x="388" y="0"/>
                </a:lnTo>
                <a:cubicBezTo>
                  <a:pt x="412" y="0"/>
                  <a:pt x="431" y="18"/>
                  <a:pt x="431" y="40"/>
                </a:cubicBezTo>
                <a:lnTo>
                  <a:pt x="431" y="104"/>
                </a:lnTo>
                <a:cubicBezTo>
                  <a:pt x="431" y="113"/>
                  <a:pt x="424" y="120"/>
                  <a:pt x="415" y="120"/>
                </a:cubicBezTo>
                <a:cubicBezTo>
                  <a:pt x="406" y="120"/>
                  <a:pt x="399" y="113"/>
                  <a:pt x="399" y="104"/>
                </a:cubicBezTo>
                <a:lnTo>
                  <a:pt x="399" y="40"/>
                </a:lnTo>
                <a:cubicBezTo>
                  <a:pt x="399" y="36"/>
                  <a:pt x="394" y="32"/>
                  <a:pt x="388" y="32"/>
                </a:cubicBezTo>
                <a:lnTo>
                  <a:pt x="43" y="32"/>
                </a:lnTo>
                <a:cubicBezTo>
                  <a:pt x="37" y="32"/>
                  <a:pt x="32" y="36"/>
                  <a:pt x="32" y="40"/>
                </a:cubicBezTo>
                <a:lnTo>
                  <a:pt x="32" y="470"/>
                </a:lnTo>
                <a:cubicBezTo>
                  <a:pt x="32" y="474"/>
                  <a:pt x="37" y="478"/>
                  <a:pt x="43" y="478"/>
                </a:cubicBezTo>
                <a:lnTo>
                  <a:pt x="388" y="478"/>
                </a:lnTo>
                <a:cubicBezTo>
                  <a:pt x="394" y="478"/>
                  <a:pt x="399" y="474"/>
                  <a:pt x="399" y="470"/>
                </a:cubicBezTo>
                <a:lnTo>
                  <a:pt x="399" y="445"/>
                </a:lnTo>
                <a:cubicBezTo>
                  <a:pt x="399" y="436"/>
                  <a:pt x="406" y="429"/>
                  <a:pt x="415" y="429"/>
                </a:cubicBezTo>
                <a:cubicBezTo>
                  <a:pt x="424" y="429"/>
                  <a:pt x="431" y="436"/>
                  <a:pt x="431" y="445"/>
                </a:cubicBezTo>
                <a:lnTo>
                  <a:pt x="431" y="470"/>
                </a:lnTo>
                <a:cubicBezTo>
                  <a:pt x="431" y="492"/>
                  <a:pt x="412" y="510"/>
                  <a:pt x="388" y="510"/>
                </a:cubicBezTo>
                <a:close/>
                <a:moveTo>
                  <a:pt x="278" y="382"/>
                </a:moveTo>
                <a:lnTo>
                  <a:pt x="87" y="382"/>
                </a:lnTo>
                <a:cubicBezTo>
                  <a:pt x="78" y="382"/>
                  <a:pt x="71" y="375"/>
                  <a:pt x="71" y="366"/>
                </a:cubicBezTo>
                <a:cubicBezTo>
                  <a:pt x="71" y="357"/>
                  <a:pt x="78" y="350"/>
                  <a:pt x="87" y="350"/>
                </a:cubicBezTo>
                <a:lnTo>
                  <a:pt x="278" y="350"/>
                </a:lnTo>
                <a:cubicBezTo>
                  <a:pt x="287" y="350"/>
                  <a:pt x="294" y="357"/>
                  <a:pt x="294" y="366"/>
                </a:cubicBezTo>
                <a:cubicBezTo>
                  <a:pt x="294" y="375"/>
                  <a:pt x="287" y="382"/>
                  <a:pt x="278" y="382"/>
                </a:cubicBezTo>
                <a:close/>
                <a:moveTo>
                  <a:pt x="332" y="423"/>
                </a:moveTo>
                <a:cubicBezTo>
                  <a:pt x="329" y="423"/>
                  <a:pt x="326" y="422"/>
                  <a:pt x="324" y="421"/>
                </a:cubicBezTo>
                <a:cubicBezTo>
                  <a:pt x="316" y="416"/>
                  <a:pt x="313" y="407"/>
                  <a:pt x="318" y="399"/>
                </a:cubicBezTo>
                <a:lnTo>
                  <a:pt x="454" y="163"/>
                </a:lnTo>
                <a:cubicBezTo>
                  <a:pt x="458" y="155"/>
                  <a:pt x="468" y="153"/>
                  <a:pt x="476" y="157"/>
                </a:cubicBezTo>
                <a:cubicBezTo>
                  <a:pt x="483" y="162"/>
                  <a:pt x="486" y="171"/>
                  <a:pt x="482" y="179"/>
                </a:cubicBezTo>
                <a:lnTo>
                  <a:pt x="346" y="415"/>
                </a:lnTo>
                <a:cubicBezTo>
                  <a:pt x="343" y="420"/>
                  <a:pt x="337" y="423"/>
                  <a:pt x="332" y="423"/>
                </a:cubicBezTo>
                <a:close/>
              </a:path>
            </a:pathLst>
          </a:custGeom>
          <a:solidFill>
            <a:srgbClr val="FFFFFF"/>
          </a:solidFill>
          <a:ln w="485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圆角矩形 3"/>
          <p:cNvSpPr/>
          <p:nvPr>
            <p:custDataLst>
              <p:tags r:id="rId8"/>
            </p:custDataLst>
          </p:nvPr>
        </p:nvSpPr>
        <p:spPr>
          <a:xfrm>
            <a:off x="1327468" y="2209801"/>
            <a:ext cx="4072890" cy="4354830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矩形 9"/>
          <p:cNvSpPr/>
          <p:nvPr>
            <p:custDataLst>
              <p:tags r:id="rId9"/>
            </p:custDataLst>
          </p:nvPr>
        </p:nvSpPr>
        <p:spPr>
          <a:xfrm>
            <a:off x="1496695" y="3423285"/>
            <a:ext cx="3790315" cy="26003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marL="285750" indent="-28575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v"/>
            </a:pPr>
            <a:r>
              <a:rPr lang="en-US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Добавление новых типов данных (деревья, хеш-таблицы)</a:t>
            </a:r>
            <a:endParaRPr lang="en-US" altLang="ru-RU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285750" indent="-28575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v"/>
            </a:pPr>
            <a:r>
              <a:rPr lang="en-US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Система уроков/тестов, сохранение прогресса пользователя</a:t>
            </a:r>
            <a:endParaRPr lang="en-US" altLang="ru-RU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285750" indent="-28575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v"/>
            </a:pPr>
            <a:r>
              <a:rPr lang="en-US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Экспорт анимации в видео/</a:t>
            </a:r>
            <a:r>
              <a:rPr lang="en-US" altLang="ru-RU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GIF</a:t>
            </a:r>
            <a:endParaRPr lang="en-US" altLang="ru-RU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2" name="矩形 10"/>
          <p:cNvSpPr/>
          <p:nvPr>
            <p:custDataLst>
              <p:tags r:id="rId10"/>
            </p:custDataLst>
          </p:nvPr>
        </p:nvSpPr>
        <p:spPr>
          <a:xfrm>
            <a:off x="1784033" y="2799081"/>
            <a:ext cx="3160395" cy="4425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kern="0" dirty="0">
                <a:solidFill>
                  <a:schemeClr val="accent1"/>
                </a:solidFill>
                <a:latin typeface="+mj-lt"/>
              </a:rPr>
              <a:t>Перспективы</a:t>
            </a:r>
            <a:endParaRPr lang="en-US" altLang="en-US" sz="2400" b="1" kern="0" dirty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11"/>
            </p:custDataLst>
          </p:nvPr>
        </p:nvCxnSpPr>
        <p:spPr>
          <a:xfrm>
            <a:off x="8649653" y="6208396"/>
            <a:ext cx="356235" cy="0"/>
          </a:xfrm>
          <a:prstGeom prst="line">
            <a:avLst/>
          </a:prstGeom>
          <a:ln w="47625" cap="rnd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12"/>
            </p:custDataLst>
          </p:nvPr>
        </p:nvCxnSpPr>
        <p:spPr>
          <a:xfrm>
            <a:off x="3186113" y="6208396"/>
            <a:ext cx="356235" cy="0"/>
          </a:xfrm>
          <a:prstGeom prst="line">
            <a:avLst/>
          </a:prstGeom>
          <a:ln w="47625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椭圆 11"/>
          <p:cNvSpPr/>
          <p:nvPr>
            <p:custDataLst>
              <p:tags r:id="rId13"/>
            </p:custDataLst>
          </p:nvPr>
        </p:nvSpPr>
        <p:spPr>
          <a:xfrm>
            <a:off x="2918778" y="1783080"/>
            <a:ext cx="890270" cy="89027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椭圆 4"/>
          <p:cNvSpPr/>
          <p:nvPr>
            <p:custDataLst>
              <p:tags r:id="rId14"/>
            </p:custDataLst>
          </p:nvPr>
        </p:nvSpPr>
        <p:spPr>
          <a:xfrm>
            <a:off x="2949258" y="1782445"/>
            <a:ext cx="829945" cy="829945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任意多边形: 形状 27"/>
          <p:cNvSpPr/>
          <p:nvPr>
            <p:custDataLst>
              <p:tags r:id="rId15"/>
            </p:custDataLst>
          </p:nvPr>
        </p:nvSpPr>
        <p:spPr>
          <a:xfrm>
            <a:off x="3224213" y="2035175"/>
            <a:ext cx="278766" cy="323642"/>
          </a:xfrm>
          <a:custGeom>
            <a:avLst/>
            <a:gdLst>
              <a:gd name="connsiteX0" fmla="*/ 139079 w 279011"/>
              <a:gd name="connsiteY0" fmla="*/ 115621 h 116061"/>
              <a:gd name="connsiteX1" fmla="*/ 121961 w 279011"/>
              <a:gd name="connsiteY1" fmla="*/ 109644 h 116061"/>
              <a:gd name="connsiteX2" fmla="*/ 3139 w 279011"/>
              <a:gd name="connsiteY2" fmla="*/ 16021 h 116061"/>
              <a:gd name="connsiteX3" fmla="*/ 1609 w 279011"/>
              <a:gd name="connsiteY3" fmla="*/ 3063 h 116061"/>
              <a:gd name="connsiteX4" fmla="*/ 14567 w 279011"/>
              <a:gd name="connsiteY4" fmla="*/ 1532 h 116061"/>
              <a:gd name="connsiteX5" fmla="*/ 133437 w 279011"/>
              <a:gd name="connsiteY5" fmla="*/ 95204 h 116061"/>
              <a:gd name="connsiteX6" fmla="*/ 144817 w 279011"/>
              <a:gd name="connsiteY6" fmla="*/ 95204 h 116061"/>
              <a:gd name="connsiteX7" fmla="*/ 263687 w 279011"/>
              <a:gd name="connsiteY7" fmla="*/ 1532 h 116061"/>
              <a:gd name="connsiteX8" fmla="*/ 276646 w 279011"/>
              <a:gd name="connsiteY8" fmla="*/ 3063 h 116061"/>
              <a:gd name="connsiteX9" fmla="*/ 275115 w 279011"/>
              <a:gd name="connsiteY9" fmla="*/ 16021 h 116061"/>
              <a:gd name="connsiteX10" fmla="*/ 156197 w 279011"/>
              <a:gd name="connsiteY10" fmla="*/ 109644 h 116061"/>
              <a:gd name="connsiteX11" fmla="*/ 139079 w 279011"/>
              <a:gd name="connsiteY11" fmla="*/ 115621 h 116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9" h="510">
                <a:moveTo>
                  <a:pt x="219" y="423"/>
                </a:moveTo>
                <a:cubicBezTo>
                  <a:pt x="210" y="423"/>
                  <a:pt x="200" y="420"/>
                  <a:pt x="192" y="413"/>
                </a:cubicBezTo>
                <a:lnTo>
                  <a:pt x="6" y="266"/>
                </a:lnTo>
                <a:cubicBezTo>
                  <a:pt x="-1" y="261"/>
                  <a:pt x="-2" y="252"/>
                  <a:pt x="3" y="245"/>
                </a:cubicBezTo>
                <a:cubicBezTo>
                  <a:pt x="8" y="239"/>
                  <a:pt x="17" y="238"/>
                  <a:pt x="24" y="243"/>
                </a:cubicBezTo>
                <a:lnTo>
                  <a:pt x="211" y="391"/>
                </a:lnTo>
                <a:cubicBezTo>
                  <a:pt x="216" y="395"/>
                  <a:pt x="223" y="395"/>
                  <a:pt x="228" y="391"/>
                </a:cubicBezTo>
                <a:lnTo>
                  <a:pt x="415" y="243"/>
                </a:lnTo>
                <a:cubicBezTo>
                  <a:pt x="422" y="238"/>
                  <a:pt x="431" y="239"/>
                  <a:pt x="436" y="245"/>
                </a:cubicBezTo>
                <a:cubicBezTo>
                  <a:pt x="441" y="252"/>
                  <a:pt x="440" y="261"/>
                  <a:pt x="433" y="266"/>
                </a:cubicBezTo>
                <a:lnTo>
                  <a:pt x="246" y="413"/>
                </a:lnTo>
                <a:cubicBezTo>
                  <a:pt x="238" y="420"/>
                  <a:pt x="229" y="423"/>
                  <a:pt x="219" y="423"/>
                </a:cubicBezTo>
                <a:close/>
                <a:moveTo>
                  <a:pt x="219" y="510"/>
                </a:moveTo>
                <a:cubicBezTo>
                  <a:pt x="210" y="510"/>
                  <a:pt x="200" y="507"/>
                  <a:pt x="192" y="500"/>
                </a:cubicBezTo>
                <a:lnTo>
                  <a:pt x="6" y="353"/>
                </a:lnTo>
                <a:cubicBezTo>
                  <a:pt x="-1" y="348"/>
                  <a:pt x="-2" y="339"/>
                  <a:pt x="3" y="332"/>
                </a:cubicBezTo>
                <a:cubicBezTo>
                  <a:pt x="8" y="326"/>
                  <a:pt x="17" y="325"/>
                  <a:pt x="24" y="330"/>
                </a:cubicBezTo>
                <a:lnTo>
                  <a:pt x="211" y="477"/>
                </a:lnTo>
                <a:cubicBezTo>
                  <a:pt x="216" y="482"/>
                  <a:pt x="223" y="482"/>
                  <a:pt x="228" y="477"/>
                </a:cubicBezTo>
                <a:lnTo>
                  <a:pt x="415" y="330"/>
                </a:lnTo>
                <a:cubicBezTo>
                  <a:pt x="422" y="325"/>
                  <a:pt x="431" y="326"/>
                  <a:pt x="436" y="332"/>
                </a:cubicBezTo>
                <a:cubicBezTo>
                  <a:pt x="441" y="339"/>
                  <a:pt x="440" y="348"/>
                  <a:pt x="433" y="353"/>
                </a:cubicBezTo>
                <a:lnTo>
                  <a:pt x="246" y="500"/>
                </a:lnTo>
                <a:cubicBezTo>
                  <a:pt x="238" y="507"/>
                  <a:pt x="229" y="510"/>
                  <a:pt x="219" y="510"/>
                </a:cubicBezTo>
                <a:close/>
                <a:moveTo>
                  <a:pt x="218" y="336"/>
                </a:moveTo>
                <a:cubicBezTo>
                  <a:pt x="209" y="336"/>
                  <a:pt x="199" y="333"/>
                  <a:pt x="192" y="327"/>
                </a:cubicBezTo>
                <a:lnTo>
                  <a:pt x="34" y="202"/>
                </a:lnTo>
                <a:cubicBezTo>
                  <a:pt x="23" y="194"/>
                  <a:pt x="17" y="181"/>
                  <a:pt x="17" y="168"/>
                </a:cubicBezTo>
                <a:cubicBezTo>
                  <a:pt x="17" y="154"/>
                  <a:pt x="23" y="142"/>
                  <a:pt x="34" y="134"/>
                </a:cubicBezTo>
                <a:lnTo>
                  <a:pt x="192" y="9"/>
                </a:lnTo>
                <a:cubicBezTo>
                  <a:pt x="207" y="-3"/>
                  <a:pt x="230" y="-3"/>
                  <a:pt x="245" y="9"/>
                </a:cubicBezTo>
                <a:lnTo>
                  <a:pt x="403" y="134"/>
                </a:lnTo>
                <a:cubicBezTo>
                  <a:pt x="414" y="142"/>
                  <a:pt x="420" y="154"/>
                  <a:pt x="420" y="168"/>
                </a:cubicBezTo>
                <a:cubicBezTo>
                  <a:pt x="420" y="181"/>
                  <a:pt x="414" y="194"/>
                  <a:pt x="403" y="202"/>
                </a:cubicBezTo>
                <a:lnTo>
                  <a:pt x="245" y="327"/>
                </a:lnTo>
                <a:cubicBezTo>
                  <a:pt x="238" y="333"/>
                  <a:pt x="228" y="336"/>
                  <a:pt x="218" y="336"/>
                </a:cubicBezTo>
                <a:close/>
                <a:moveTo>
                  <a:pt x="218" y="29"/>
                </a:moveTo>
                <a:cubicBezTo>
                  <a:pt x="215" y="29"/>
                  <a:pt x="212" y="30"/>
                  <a:pt x="210" y="32"/>
                </a:cubicBezTo>
                <a:lnTo>
                  <a:pt x="51" y="156"/>
                </a:lnTo>
                <a:cubicBezTo>
                  <a:pt x="48" y="159"/>
                  <a:pt x="46" y="163"/>
                  <a:pt x="46" y="168"/>
                </a:cubicBezTo>
                <a:cubicBezTo>
                  <a:pt x="46" y="172"/>
                  <a:pt x="48" y="177"/>
                  <a:pt x="51" y="179"/>
                </a:cubicBezTo>
                <a:lnTo>
                  <a:pt x="210" y="304"/>
                </a:lnTo>
                <a:cubicBezTo>
                  <a:pt x="215" y="308"/>
                  <a:pt x="222" y="308"/>
                  <a:pt x="227" y="304"/>
                </a:cubicBezTo>
                <a:lnTo>
                  <a:pt x="385" y="179"/>
                </a:lnTo>
                <a:cubicBezTo>
                  <a:pt x="389" y="176"/>
                  <a:pt x="391" y="172"/>
                  <a:pt x="391" y="168"/>
                </a:cubicBezTo>
                <a:cubicBezTo>
                  <a:pt x="391" y="163"/>
                  <a:pt x="389" y="159"/>
                  <a:pt x="385" y="156"/>
                </a:cubicBezTo>
                <a:lnTo>
                  <a:pt x="227" y="32"/>
                </a:lnTo>
                <a:cubicBezTo>
                  <a:pt x="225" y="30"/>
                  <a:pt x="222" y="29"/>
                  <a:pt x="218" y="29"/>
                </a:cubicBezTo>
                <a:close/>
              </a:path>
            </a:pathLst>
          </a:custGeom>
          <a:solidFill>
            <a:srgbClr val="FFFFFF"/>
          </a:solidFill>
          <a:ln w="478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Заголовок 5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94690" y="567055"/>
            <a:ext cx="4848860" cy="1800225"/>
          </a:xfrm>
        </p:spPr>
        <p:txBody>
          <a:bodyPr/>
          <a:p>
            <a:r>
              <a:rPr lang="en-US" altLang="en-US"/>
              <a:t>Спасибо за внимание!</a:t>
            </a:r>
            <a:endParaRPr lang="en-US" altLang="en-US"/>
          </a:p>
        </p:txBody>
      </p:sp>
      <p:sp>
        <p:nvSpPr>
          <p:cNvPr id="7" name="Замещающий текст 6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650240" y="2875915"/>
            <a:ext cx="5401310" cy="1670685"/>
          </a:xfrm>
        </p:spPr>
        <p:txBody>
          <a:bodyPr>
            <a:noAutofit/>
          </a:bodyPr>
          <a:p>
            <a:r>
              <a:rPr lang="en-US" altLang="en-US" sz="1600"/>
              <a:t>Ссылка на репозиторий: </a:t>
            </a:r>
            <a:endParaRPr lang="en-US" altLang="en-US" sz="1600"/>
          </a:p>
          <a:p>
            <a:r>
              <a:rPr lang="en-US" altLang="ru-RU" sz="1600"/>
              <a:t>https://github.com/dan248650/AlgoIsCool</a:t>
            </a:r>
            <a:endParaRPr lang="en-US" altLang="ru-RU" sz="1600"/>
          </a:p>
          <a:p>
            <a:endParaRPr lang="en-US" altLang="ru-RU" sz="1600"/>
          </a:p>
          <a:p>
            <a:r>
              <a:rPr lang="en-US" altLang="ru-RU" sz="1600"/>
              <a:t>AlgoIsCool — </a:t>
            </a:r>
            <a:r>
              <a:rPr lang="en-US" altLang="en-US" sz="1600"/>
              <a:t>изучай алгоритмы с удовольствием!</a:t>
            </a:r>
            <a:endParaRPr lang="en-US" altLang="en-US" sz="1600"/>
          </a:p>
          <a:p>
            <a:r>
              <a:rPr lang="en-US" altLang="en-US" sz="1600"/>
              <a:t>Связь: </a:t>
            </a:r>
            <a:r>
              <a:rPr lang="en-US" altLang="ru-RU" sz="1600"/>
              <a:t>daniel.dan.pavlov@gmail.com</a:t>
            </a:r>
            <a:endParaRPr lang="en-US" altLang="ru-RU" sz="16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8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62"/>
</p:tagLst>
</file>

<file path=ppt/tags/tag6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62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62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62_1*a*1"/>
  <p:tag name="KSO_WM_TEMPLATE_CATEGORY" val="custom"/>
  <p:tag name="KSO_WM_TEMPLATE_INDEX" val="20233462"/>
  <p:tag name="KSO_WM_UNIT_LAYERLEVEL" val="1"/>
  <p:tag name="KSO_WM_TAG_VERSION" val="3.0"/>
  <p:tag name="KSO_WM_BEAUTIFY_FLAG" val="#wm#"/>
  <p:tag name="KSO_WM_UNIT_PRESET_TEXT" val="The title goes here"/>
</p:tagLst>
</file>

<file path=ppt/tags/tag66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33462_1*f*2"/>
  <p:tag name="KSO_WM_TEMPLATE_CATEGORY" val="custom"/>
  <p:tag name="KSO_WM_TEMPLATE_INDEX" val="20233462"/>
  <p:tag name="KSO_WM_UNIT_LAYERLEVEL" val="1"/>
  <p:tag name="KSO_WM_TAG_VERSION" val="3.0"/>
  <p:tag name="KSO_WM_BEAUTIFY_FLAG" val="#wm#"/>
  <p:tag name="KSO_WM_UNIT_PRESET_TEXT" val="Name"/>
</p:tagLst>
</file>

<file path=ppt/tags/tag67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6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62"/>
  <p:tag name="KSO_WM_SLIDE_LAYOUT" val="a_f"/>
  <p:tag name="KSO_WM_SLIDE_LAYOUT_CNT" val="1_1"/>
  <p:tag name="KSO_WM_SLIDE_THEME_ID" val="3313952"/>
  <p:tag name="KSO_WM_SLIDE_THEME_NAME" val="Black Business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LAYERLEVEL" val="1"/>
  <p:tag name="KSO_WM_TAG_VERSION" val="3.0"/>
  <p:tag name="KSO_WM_BEAUTIFY_FLAG" val="#wm#"/>
  <p:tag name="KSO_WM_UNIT_CONTENT_GROUP_TYPE" val="titlestyle"/>
  <p:tag name="KSO_WM_UNIT_ID" val="_2*a*1"/>
</p:tagLst>
</file>

<file path=ppt/tags/tag6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9_1*l_h_i*1_1_2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3"/>
  <p:tag name="KSO_WM_DIAGRAM_VIRTUALLY_FRAME" val="{&quot;height&quot;:272.75,&quot;left&quot;:449.62503937007875,&quot;top&quot;:107.6,&quot;width&quot;:476.8376517963206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29_1*l_h_a*1_1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272.75,&quot;left&quot;:449.62503937007875,&quot;top&quot;:107.6,&quot;width&quot;:476.8376517963206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29_1*l_h_f*1_1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272.75,&quot;left&quot;:449.62503937007875,&quot;top&quot;:107.6,&quot;width&quot;:476.837651796320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9_1*l_h_i*1_2_2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3"/>
  <p:tag name="KSO_WM_DIAGRAM_VIRTUALLY_FRAME" val="{&quot;height&quot;:272.75,&quot;left&quot;:449.62503937007875,&quot;top&quot;:107.6,&quot;width&quot;:476.8376517963206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29_1*l_h_a*1_2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272.75,&quot;left&quot;:449.62503937007875,&quot;top&quot;:107.6,&quot;width&quot;:476.8376517963206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29_1*l_h_f*1_2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272.75,&quot;left&quot;:449.62503937007875,&quot;top&quot;:107.6,&quot;width&quot;:476.837651796320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9_1*l_h_i*1_3_2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2"/>
  <p:tag name="KSO_WM_DIAGRAM_MAX_ITEMCNT" val="6"/>
  <p:tag name="KSO_WM_DIAGRAM_MIN_ITEMCNT" val="3"/>
  <p:tag name="KSO_WM_DIAGRAM_VIRTUALLY_FRAME" val="{&quot;height&quot;:272.75,&quot;left&quot;:449.62503937007875,&quot;top&quot;:107.6,&quot;width&quot;:476.8376517963206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29_1*l_h_a*1_3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272.75,&quot;left&quot;:449.62503937007875,&quot;top&quot;:107.6,&quot;width&quot;:476.8376517963206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29_1*l_h_f*1_3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272.75,&quot;left&quot;:449.62503937007875,&quot;top&quot;:107.6,&quot;width&quot;:476.837651796320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2"/>
  <p:tag name="KSO_WM_SLIDE_TYPE" val="text"/>
  <p:tag name="resource_record_key" val="{&quot;65&quot;:[20233462],&quot;70&quot;:[3319356]}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2_1_1"/>
  <p:tag name="KSO_WM_UNIT_ID" val="diagram20238317_1*l_h_i*2_1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56.67559055118124,&quot;left&quot;:45.95,&quot;top&quot;:87.72440944881876,&quot;width&quot;:926.70000000000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3.xml><?xml version="1.0" encoding="utf-8"?>
<p:tagLst xmlns:p="http://schemas.openxmlformats.org/presentationml/2006/main">
  <p:tag name="KSO_WM_UNIT_LINE_FORE_SCHEMECOLOR_INDEX_BRIGHTNESS" val="0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2_1_2"/>
  <p:tag name="KSO_WM_UNIT_ID" val="diagram20238317_1*l_h_i*2_1_2"/>
  <p:tag name="KSO_WM_TEMPLATE_CATEGORY" val="diagram"/>
  <p:tag name="KSO_WM_TEMPLATE_INDEX" val="2023831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56.67559055118124,&quot;left&quot;:45.95,&quot;top&quot;:87.72440944881876,&quot;width&quot;:926.700000000000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2_1_1"/>
  <p:tag name="KSO_WM_UNIT_ID" val="diagram20238317_1*l_h_a*2_1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56.67559055118124,&quot;left&quot;:45.95,&quot;top&quot;:87.72440944881876,&quot;width&quot;:926.70000000000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2_1_1"/>
  <p:tag name="KSO_WM_UNIT_ID" val="diagram20238317_1*l_h_f*2_1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56.67559055118124,&quot;left&quot;:45.95,&quot;top&quot;:87.72440944881876,&quot;width&quot;:926.70000000000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2_2_1"/>
  <p:tag name="KSO_WM_UNIT_ID" val="diagram20238317_1*l_h_i*2_2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56.67559055118124,&quot;left&quot;:45.95,&quot;top&quot;:87.72440944881876,&quot;width&quot;:926.70000000000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7.xml><?xml version="1.0" encoding="utf-8"?>
<p:tagLst xmlns:p="http://schemas.openxmlformats.org/presentationml/2006/main">
  <p:tag name="KSO_WM_UNIT_LINE_FORE_SCHEMECOLOR_INDEX_BRIGHTNESS" val="0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2_2_2"/>
  <p:tag name="KSO_WM_UNIT_ID" val="diagram20238317_1*l_h_i*2_2_2"/>
  <p:tag name="KSO_WM_TEMPLATE_CATEGORY" val="diagram"/>
  <p:tag name="KSO_WM_TEMPLATE_INDEX" val="2023831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56.67559055118124,&quot;left&quot;:45.95,&quot;top&quot;:87.72440944881876,&quot;width&quot;:926.700000000000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2_2_1"/>
  <p:tag name="KSO_WM_UNIT_ID" val="diagram20238317_1*l_h_a*2_2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56.67559055118124,&quot;left&quot;:45.95,&quot;top&quot;:87.72440944881876,&quot;width&quot;:926.70000000000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2_2_1"/>
  <p:tag name="KSO_WM_UNIT_ID" val="diagram20238317_1*l_h_f*2_2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56.67559055118124,&quot;left&quot;:45.95,&quot;top&quot;:87.72440944881876,&quot;width&quot;:926.70000000000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2"/>
  <p:tag name="resource_record_key" val="{&quot;65&quot;:[20233462],&quot;70&quot;:[3322023]}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2"/>
</p:tagLst>
</file>

<file path=ppt/tags/tag92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38.49742755639016,&quot;left&quot;:54.67498779296875,&quot;top&quot;:87.02236220472442,&quot;width&quot;:870.7411976971964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294_2*l_h_i*1_1_2"/>
  <p:tag name="KSO_WM_TEMPLATE_CATEGORY" val="diagram"/>
  <p:tag name="KSO_WM_TEMPLATE_INDEX" val="20238294"/>
  <p:tag name="KSO_WM_UNIT_LAYERLEVEL" val="1_1_1"/>
  <p:tag name="KSO_WM_TAG_VERSION" val="3.0"/>
  <p:tag name="KSO_WM_BEAUTIFY_FLAG" val="#wm#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DIAGRAM_USE_COLOR_VALUE" val="{&quot;color_scheme&quot;:1,&quot;color_type&quot;:1,&quot;theme_color_indexes&quot;:[5,6,5,6,5,6]}"/>
</p:tagLst>
</file>

<file path=ppt/tags/tag94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38.49742755639016,&quot;left&quot;:54.67498779296875,&quot;top&quot;:87.02236220472442,&quot;width&quot;:870.7411976971964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294_2*l_h_i*1_3_2"/>
  <p:tag name="KSO_WM_TEMPLATE_CATEGORY" val="diagram"/>
  <p:tag name="KSO_WM_TEMPLATE_INDEX" val="20238294"/>
  <p:tag name="KSO_WM_UNIT_LAYERLEVEL" val="1_1_1"/>
  <p:tag name="KSO_WM_TAG_VERSION" val="3.0"/>
  <p:tag name="KSO_WM_BEAUTIFY_FLAG" val="#wm#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DIAGRAM_USE_COLOR_VALUE" val="{&quot;color_scheme&quot;:1,&quot;color_type&quot;:1,&quot;theme_color_indexes&quot;:[5,6,5,6,5,6]}"/>
</p:tagLst>
</file>

<file path=ppt/tags/tag95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38.49742755639016,&quot;left&quot;:54.67498779296875,&quot;top&quot;:87.02236220472442,&quot;width&quot;:870.7411976971964}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solidLine&quot;:{&quot;brightness&quot;:-0.25,&quot;colorType&quot;:1,&quot;foreColorIndex&quot;:5,&quot;transparency&quot;:0.800000011920929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294_2*l_h_i*1_2_2"/>
  <p:tag name="KSO_WM_TEMPLATE_CATEGORY" val="diagram"/>
  <p:tag name="KSO_WM_TEMPLATE_INDEX" val="20238294"/>
  <p:tag name="KSO_WM_UNIT_LAYERLEVEL" val="1_1_1"/>
  <p:tag name="KSO_WM_TAG_VERSION" val="3.0"/>
  <p:tag name="KSO_WM_BEAUTIFY_FLAG" val="#wm#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96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38.49742755639016,&quot;left&quot;:54.67498779296875,&quot;top&quot;:87.02236220472442,&quot;width&quot;:870.7411976971964}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294_2*l_h_a*1_3_1"/>
  <p:tag name="KSO_WM_TEMPLATE_CATEGORY" val="diagram"/>
  <p:tag name="KSO_WM_TEMPLATE_INDEX" val="20238294"/>
  <p:tag name="KSO_WM_UNIT_LAYERLEVEL" val="1_1_1"/>
  <p:tag name="KSO_WM_TAG_VERSION" val="3.0"/>
  <p:tag name="KSO_WM_BEAUTIFY_FLAG" val="#wm#"/>
  <p:tag name="KSO_WM_UNIT_PRESET_TEXT" val="Title"/>
  <p:tag name="KSO_WM_UNIT_FILL_TYPE" val="3"/>
  <p:tag name="KSO_WM_DIAGRAM_USE_COLOR_VALUE" val="{&quot;color_scheme&quot;:1,&quot;color_type&quot;:1,&quot;theme_color_indexes&quot;:[5,6,5,6,5,6]}"/>
</p:tagLst>
</file>

<file path=ppt/tags/tag97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38.49742755639016,&quot;left&quot;:54.67498779296875,&quot;top&quot;:87.02236220472442,&quot;width&quot;:870.7411976971964}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94_2*l_h_a*1_1_1"/>
  <p:tag name="KSO_WM_TEMPLATE_CATEGORY" val="diagram"/>
  <p:tag name="KSO_WM_TEMPLATE_INDEX" val="20238294"/>
  <p:tag name="KSO_WM_UNIT_LAYERLEVEL" val="1_1_1"/>
  <p:tag name="KSO_WM_TAG_VERSION" val="3.0"/>
  <p:tag name="KSO_WM_BEAUTIFY_FLAG" val="#wm#"/>
  <p:tag name="KSO_WM_UNIT_PRESET_TEXT" val="Title"/>
  <p:tag name="KSO_WM_UNIT_FILL_TYPE" val="3"/>
  <p:tag name="KSO_WM_DIAGRAM_USE_COLOR_VALUE" val="{&quot;color_scheme&quot;:1,&quot;color_type&quot;:1,&quot;theme_color_indexes&quot;:[5,6,5,6,5,6]}"/>
</p:tagLst>
</file>

<file path=ppt/tags/tag98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38.49742755639016,&quot;left&quot;:54.67498779296875,&quot;top&quot;:87.02236220472442,&quot;width&quot;:870.74119769719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294_2*l_h_f*1_3_1"/>
  <p:tag name="KSO_WM_TEMPLATE_CATEGORY" val="diagram"/>
  <p:tag name="KSO_WM_TEMPLATE_INDEX" val="20238294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9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38.49742755639016,&quot;left&quot;:54.67498779296875,&quot;top&quot;:87.02236220472442,&quot;width&quot;:870.74119769719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294_2*l_h_f*1_1_1"/>
  <p:tag name="KSO_WM_TEMPLATE_CATEGORY" val="diagram"/>
  <p:tag name="KSO_WM_TEMPLATE_INDEX" val="20238294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0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38.49742755639016,&quot;left&quot;:54.67498779296875,&quot;top&quot;:87.02236220472442,&quot;width&quot;:870.74119769719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294_2*l_h_f*1_2_1"/>
  <p:tag name="KSO_WM_TEMPLATE_CATEGORY" val="diagram"/>
  <p:tag name="KSO_WM_TEMPLATE_INDEX" val="20238294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1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38.49742755639016,&quot;left&quot;:54.67498779296875,&quot;top&quot;:87.02236220472442,&quot;width&quot;:870.7411976971964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94_2*l_h_a*1_2_1"/>
  <p:tag name="KSO_WM_TEMPLATE_CATEGORY" val="diagram"/>
  <p:tag name="KSO_WM_TEMPLATE_INDEX" val="20238294"/>
  <p:tag name="KSO_WM_UNIT_LAYERLEVEL" val="1_1_1"/>
  <p:tag name="KSO_WM_TAG_VERSION" val="3.0"/>
  <p:tag name="KSO_WM_BEAUTIFY_FLAG" val="#wm#"/>
  <p:tag name="KSO_WM_UNIT_PRESET_TEXT" val="Title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2"/>
  <p:tag name="resource_record_key" val="{&quot;65&quot;:[20233462],&quot;70&quot;:[3321834]}"/>
</p:tagLst>
</file>

<file path=ppt/tags/tag10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3*a*1"/>
  <p:tag name="KSO_WM_UNIT_LAYERLEVEL" val="1"/>
  <p:tag name="KSO_WM_TAG_VERSION" val="3.0"/>
  <p:tag name="KSO_WM_BEAUTIFY_FLAG" val="#wm#"/>
  <p:tag name="KSO_WM_UNIT_TYPE_DROP" val="a"/>
</p:tagLst>
</file>

<file path=ppt/tags/tag104.xml><?xml version="1.0" encoding="utf-8"?>
<p:tagLst xmlns:p="http://schemas.openxmlformats.org/presentationml/2006/main">
  <p:tag name="KSO_WM_DIAGRAM_VIRTUALLY_FRAME" val="{&quot;height&quot;:376.5749938964844,&quot;left&quot;:56.725006103515625,&quot;top&quot;:140.35,&quot;width&quot;:846.549987792968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72_1*l_h_i*1_2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05.xml><?xml version="1.0" encoding="utf-8"?>
<p:tagLst xmlns:p="http://schemas.openxmlformats.org/presentationml/2006/main">
  <p:tag name="KSO_WM_DIAGRAM_VIRTUALLY_FRAME" val="{&quot;height&quot;:376.5749938964844,&quot;left&quot;:56.725006103515625,&quot;top&quot;:140.35,&quot;width&quot;:846.549987792968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372_1*l_h_f*1_2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6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6.5749938964844,&quot;left&quot;:56.725006103515625,&quot;top&quot;:140.35,&quot;width&quot;:846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372_1*l_h_a*1_2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7.xml><?xml version="1.0" encoding="utf-8"?>
<p:tagLst xmlns:p="http://schemas.openxmlformats.org/presentationml/2006/main">
  <p:tag name="KSO_WM_DIAGRAM_VIRTUALLY_FRAME" val="{&quot;height&quot;:376.5749938964844,&quot;left&quot;:56.725006103515625,&quot;top&quot;:140.35,&quot;width&quot;:846.5499877929688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372_1*l_h_i*1_2_2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08.xml><?xml version="1.0" encoding="utf-8"?>
<p:tagLst xmlns:p="http://schemas.openxmlformats.org/presentationml/2006/main">
  <p:tag name="KSO_WM_DIAGRAM_VIRTUALLY_FRAME" val="{&quot;height&quot;:376.5749938964844,&quot;left&quot;:56.725006103515625,&quot;top&quot;:140.35,&quot;width&quot;:846.5499877929688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8372_1*l_h_i*1_2_3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09.xml><?xml version="1.0" encoding="utf-8"?>
<p:tagLst xmlns:p="http://schemas.openxmlformats.org/presentationml/2006/main">
  <p:tag name="KSO_WM_DIAGRAM_VIRTUALLY_FRAME" val="{&quot;height&quot;:376.5749938964844,&quot;left&quot;:56.725006103515625,&quot;top&quot;:140.35,&quot;width&quot;:846.5499877929688}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90*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8372_1*l_h_x*1_2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110.xml><?xml version="1.0" encoding="utf-8"?>
<p:tagLst xmlns:p="http://schemas.openxmlformats.org/presentationml/2006/main">
  <p:tag name="KSO_WM_DIAGRAM_VIRTUALLY_FRAME" val="{&quot;height&quot;:376.5749938964844,&quot;left&quot;:56.725006103515625,&quot;top&quot;:140.35,&quot;width&quot;:846.549987792968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72_1*l_h_i*1_1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11.xml><?xml version="1.0" encoding="utf-8"?>
<p:tagLst xmlns:p="http://schemas.openxmlformats.org/presentationml/2006/main">
  <p:tag name="KSO_WM_DIAGRAM_VIRTUALLY_FRAME" val="{&quot;height&quot;:376.5749938964844,&quot;left&quot;:56.725006103515625,&quot;top&quot;:140.35,&quot;width&quot;:846.549987792968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372_1*l_h_f*1_1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2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6.5749938964844,&quot;left&quot;:56.725006103515625,&quot;top&quot;:140.35,&quot;width&quot;:846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372_1*l_h_a*1_1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3.xml><?xml version="1.0" encoding="utf-8"?>
<p:tagLst xmlns:p="http://schemas.openxmlformats.org/presentationml/2006/main">
  <p:tag name="KSO_WM_DIAGRAM_VIRTUALLY_FRAME" val="{&quot;height&quot;:376.5749938964844,&quot;left&quot;:56.725006103515625,&quot;top&quot;:140.35,&quot;width&quot;:846.549987792968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38372_1*l_h_i*1_2_4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14.xml><?xml version="1.0" encoding="utf-8"?>
<p:tagLst xmlns:p="http://schemas.openxmlformats.org/presentationml/2006/main">
  <p:tag name="KSO_WM_DIAGRAM_VIRTUALLY_FRAME" val="{&quot;height&quot;:376.5749938964844,&quot;left&quot;:56.725006103515625,&quot;top&quot;:140.35,&quot;width&quot;:846.549987792968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38372_1*l_h_i*1_1_4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15.xml><?xml version="1.0" encoding="utf-8"?>
<p:tagLst xmlns:p="http://schemas.openxmlformats.org/presentationml/2006/main">
  <p:tag name="KSO_WM_DIAGRAM_VIRTUALLY_FRAME" val="{&quot;height&quot;:376.5749938964844,&quot;left&quot;:56.725006103515625,&quot;top&quot;:140.35,&quot;width&quot;:846.5499877929688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372_1*l_h_i*1_1_2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16.xml><?xml version="1.0" encoding="utf-8"?>
<p:tagLst xmlns:p="http://schemas.openxmlformats.org/presentationml/2006/main">
  <p:tag name="KSO_WM_DIAGRAM_VIRTUALLY_FRAME" val="{&quot;height&quot;:376.5749938964844,&quot;left&quot;:56.725006103515625,&quot;top&quot;:140.35,&quot;width&quot;:846.5499877929688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8372_1*l_h_i*1_1_3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17.xml><?xml version="1.0" encoding="utf-8"?>
<p:tagLst xmlns:p="http://schemas.openxmlformats.org/presentationml/2006/main">
  <p:tag name="KSO_WM_DIAGRAM_VIRTUALLY_FRAME" val="{&quot;height&quot;:376.5749938964844,&quot;left&quot;:56.725006103515625,&quot;top&quot;:140.35,&quot;width&quot;:846.5499877929688}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90*7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8372_1*l_h_x*1_1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2"/>
  <p:tag name="resource_record_key" val="{&quot;65&quot;:[20233462],&quot;70&quot;:[3322233]}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62"/>
</p:tagLst>
</file>

<file path=ppt/tags/tag122.xml><?xml version="1.0" encoding="utf-8"?>
<p:tagLst xmlns:p="http://schemas.openxmlformats.org/presentationml/2006/main">
  <p:tag name="resource_record_key" val="{&quot;65&quot;:[20233462],&quot;70&quot;:[3319356,3322023,3321834,3322233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自定义 100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615DFF"/>
      </a:accent1>
      <a:accent2>
        <a:srgbClr val="33C6FD"/>
      </a:accent2>
      <a:accent3>
        <a:srgbClr val="6694FC"/>
      </a:accent3>
      <a:accent4>
        <a:srgbClr val="9963FA"/>
      </a:accent4>
      <a:accent5>
        <a:srgbClr val="CC31F9"/>
      </a:accent5>
      <a:accent6>
        <a:srgbClr val="E646C8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2602</Words>
  <Application>WPS Presentation</Application>
  <PresentationFormat>宽屏</PresentationFormat>
  <Paragraphs>140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Wingdings</vt:lpstr>
      <vt:lpstr>Inter Bold</vt:lpstr>
      <vt:lpstr>Liberation Mono</vt:lpstr>
      <vt:lpstr>Inter</vt:lpstr>
      <vt:lpstr>Microsoft YaHei</vt:lpstr>
      <vt:lpstr>Arial Unicode MS</vt:lpstr>
      <vt:lpstr>Calibri</vt:lpstr>
      <vt:lpstr>Office Theme</vt:lpstr>
      <vt:lpstr>2_Office Theme</vt:lpstr>
      <vt:lpstr>AlgoIsCool</vt:lpstr>
      <vt:lpstr>Архитектура и стек</vt:lpstr>
      <vt:lpstr>Интерпретация алгоритмов и передача на рендер</vt:lpstr>
      <vt:lpstr>PowerPoint 演示文稿</vt:lpstr>
      <vt:lpstr>PowerPoint 演示文稿</vt:lpstr>
      <vt:lpstr>Итоги и перспективы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Daniel Dan</cp:lastModifiedBy>
  <cp:revision>15</cp:revision>
  <dcterms:created xsi:type="dcterms:W3CDTF">2025-07-23T00:59:00Z</dcterms:created>
  <dcterms:modified xsi:type="dcterms:W3CDTF">2026-05-01T18:32:45Z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1049-12.1.0.25862</vt:lpwstr>
  </property>
  <property fmtid="{D5CDD505-2E9C-101B-9397-08002B2CF9AE}" pid="3" name="ICV">
    <vt:lpwstr>E9570D2E314C4FE9B5D2497FAA2293AB_13</vt:lpwstr>
  </property>
</Properties>
</file>